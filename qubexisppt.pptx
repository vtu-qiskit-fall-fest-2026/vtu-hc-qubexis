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defPPr lvl="0"/>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98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EFA1F8C-B10B-C84D-94FC-B3DA01C1C208}" type="datetimeFigureOut">
              <a:rPr lang="en-US" smtClean="0"/>
              <a:t>10/23/2026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20902761-92A6-8544-9B98-D45CEE3CC886}" type="slidenum">
              <a:rPr lang="en-US" smtClean="0"/>
              <a:t>‹#›</a:t>
            </a:fld>
            <a:endParaRPr lang="en-US"/>
          </a:p>
        </p:txBody>
      </p:sp>
    </p:spTree>
    <p:extLst>
      <p:ext uri="{BB962C8B-B14F-4D97-AF65-F5344CB8AC3E}">
        <p14:creationId xmlns:p14="http://schemas.microsoft.com/office/powerpoint/2010/main" val="3504636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sp>
      <p:sp>
        <p:nvSpPr>
          <p:cNvPr id="3" name="Shape 1"/>
          <p:cNvSpPr/>
          <p:nvPr/>
        </p:nvSpPr>
        <p:spPr>
          <a:xfrm>
            <a:off x="0" y="658368"/>
            <a:ext cx="3054096" cy="45720"/>
          </a:xfrm>
          <a:prstGeom prst="rect">
            <a:avLst/>
          </a:prstGeom>
          <a:solidFill>
            <a:srgbClr val="7C93F0"/>
          </a:solidFill>
          <a:ln w="12700">
            <a:solidFill>
              <a:srgbClr val="7C93F0"/>
            </a:solidFill>
            <a:prstDash val="solid"/>
          </a:ln>
        </p:spPr>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sp>
      <p:sp>
        <p:nvSpPr>
          <p:cNvPr id="3" name="Shape 1"/>
          <p:cNvSpPr/>
          <p:nvPr/>
        </p:nvSpPr>
        <p:spPr>
          <a:xfrm>
            <a:off x="0" y="658368"/>
            <a:ext cx="3054096" cy="45720"/>
          </a:xfrm>
          <a:prstGeom prst="rect">
            <a:avLst/>
          </a:prstGeom>
          <a:solidFill>
            <a:srgbClr val="7C93F0"/>
          </a:solidFill>
          <a:ln w="12700">
            <a:solidFill>
              <a:srgbClr val="7C93F0"/>
            </a:solidFill>
            <a:prstDash val="solid"/>
          </a:ln>
        </p:spPr>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pic>
        <p:nvPicPr>
          <p:cNvPr id="19" name="Image 3" descr="sphere.png"/>
          <p:cNvPicPr>
            <a:picLocks noChangeAspect="1"/>
          </p:cNvPicPr>
          <p:nvPr/>
        </p:nvPicPr>
        <p:blipFill>
          <a:blip r:embed="rId5"/>
          <a:stretch>
            <a:fillRect/>
          </a:stretch>
        </p:blipFill>
        <p:spPr>
          <a:xfrm>
            <a:off x="7909560" y="822960"/>
            <a:ext cx="777240" cy="777240"/>
          </a:xfrm>
          <a:prstGeom prst="rect">
            <a:avLst/>
          </a:prstGeom>
        </p:spPr>
      </p:pic>
      <p:pic>
        <p:nvPicPr>
          <p:cNvPr id="20" name="Image 4" descr="bird1.png"/>
          <p:cNvPicPr>
            <a:picLocks noChangeAspect="1"/>
          </p:cNvPicPr>
          <p:nvPr/>
        </p:nvPicPr>
        <p:blipFill>
          <a:blip r:embed="rId6"/>
          <a:stretch>
            <a:fillRect/>
          </a:stretch>
        </p:blipFill>
        <p:spPr>
          <a:xfrm>
            <a:off x="7086600" y="868680"/>
            <a:ext cx="548640" cy="329184"/>
          </a:xfrm>
          <a:prstGeom prst="rect">
            <a:avLst/>
          </a:prstGeom>
        </p:spPr>
      </p:pic>
      <p:pic>
        <p:nvPicPr>
          <p:cNvPr id="21" name="Image 5" descr="bird2.png"/>
          <p:cNvPicPr>
            <a:picLocks noChangeAspect="1"/>
          </p:cNvPicPr>
          <p:nvPr/>
        </p:nvPicPr>
        <p:blipFill>
          <a:blip r:embed="rId7"/>
          <a:stretch>
            <a:fillRect/>
          </a:stretch>
        </p:blipFill>
        <p:spPr>
          <a:xfrm>
            <a:off x="6903720" y="1261872"/>
            <a:ext cx="384048" cy="228600"/>
          </a:xfrm>
          <a:prstGeom prst="rect">
            <a:avLst/>
          </a:prstGeom>
        </p:spPr>
      </p:pic>
      <p:sp>
        <p:nvSpPr>
          <p:cNvPr id="22" name="Text 14"/>
          <p:cNvSpPr>
            <a:spLocks noGrp="1"/>
          </p:cNvSpPr>
          <p:nvPr>
            <p:ph type="title" idx="120" hasCustomPrompt="1"/>
          </p:nvPr>
        </p:nvSpPr>
        <p:spPr>
          <a:xfrm>
            <a:off x="457200" y="841248"/>
            <a:ext cx="6309360" cy="594360"/>
          </a:xfrm>
          <a:prstGeom prst="rect">
            <a:avLst/>
          </a:prstGeom>
          <a:noFill/>
          <a:ln/>
        </p:spPr>
        <p:txBody>
          <a:bodyPr wrap="square" rtlCol="0"/>
          <a:lstStyle>
            <a:lvl1pPr marL="0" indent="0" algn="l">
              <a:buNone/>
              <a:defRPr lang="en-US" sz="2600" b="1" dirty="0">
                <a:solidFill>
                  <a:srgbClr val="2E1B5B"/>
                </a:solidFill>
                <a:latin typeface="Georgia" pitchFamily="34" charset="0"/>
                <a:ea typeface="Georgia" pitchFamily="34" charset="-122"/>
                <a:cs typeface="Georgia" pitchFamily="34" charset="-120"/>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329184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PARTICIPANT PRESENTATION</a:t>
            </a:r>
            <a:endParaRPr lang="en-US" sz="1000" dirty="0"/>
          </a:p>
        </p:txBody>
      </p:sp>
      <p:sp>
        <p:nvSpPr>
          <p:cNvPr id="3" name="Text 1"/>
          <p:cNvSpPr txBox="1"/>
          <p:nvPr/>
        </p:nvSpPr>
        <p:spPr>
          <a:xfrm>
            <a:off x="457200" y="1234440"/>
            <a:ext cx="3383280" cy="1645920"/>
          </a:xfrm>
          <a:prstGeom prst="rect">
            <a:avLst/>
          </a:prstGeom>
          <a:noFill/>
          <a:ln/>
        </p:spPr>
        <p:txBody>
          <a:bodyPr wrap="square" lIns="0" tIns="0" rIns="0" bIns="0" rtlCol="0" anchor="t"/>
          <a:lstStyle/>
          <a:p>
            <a:pPr marL="0" indent="0">
              <a:buNone/>
            </a:pPr>
            <a:r>
              <a:rPr lang="en-US" sz="3800" b="1" dirty="0">
                <a:solidFill>
                  <a:srgbClr val="2E1B5B"/>
                </a:solidFill>
                <a:latin typeface="Georgia" pitchFamily="34" charset="0"/>
                <a:ea typeface="Georgia" pitchFamily="34" charset="-122"/>
                <a:cs typeface="Georgia" pitchFamily="34" charset="-120"/>
              </a:rPr>
              <a:t>Qiskit</a:t>
            </a:r>
            <a:endParaRPr lang="en-US" sz="3800" dirty="0"/>
          </a:p>
          <a:p>
            <a:pPr marL="0" indent="0">
              <a:buNone/>
            </a:pPr>
            <a:r>
              <a:rPr lang="en-US" sz="3800" b="1" dirty="0">
                <a:solidFill>
                  <a:srgbClr val="E8639F"/>
                </a:solidFill>
                <a:latin typeface="Georgia" pitchFamily="34" charset="0"/>
                <a:ea typeface="Georgia" pitchFamily="34" charset="-122"/>
                <a:cs typeface="Georgia" pitchFamily="34" charset="-120"/>
              </a:rPr>
              <a:t>Fall Fest</a:t>
            </a:r>
            <a:endParaRPr lang="en-US" sz="3800" dirty="0"/>
          </a:p>
          <a:p>
            <a:pPr marL="0" indent="0">
              <a:buNone/>
            </a:pPr>
            <a:r>
              <a:rPr lang="en-US" sz="3800" b="1" dirty="0">
                <a:solidFill>
                  <a:srgbClr val="2E1B5B"/>
                </a:solidFill>
                <a:latin typeface="Georgia" pitchFamily="34" charset="0"/>
                <a:ea typeface="Georgia" pitchFamily="34" charset="-122"/>
                <a:cs typeface="Georgia" pitchFamily="34" charset="-120"/>
              </a:rPr>
              <a:t>2026</a:t>
            </a:r>
            <a:endParaRPr lang="en-US" sz="3800" dirty="0"/>
          </a:p>
        </p:txBody>
      </p:sp>
      <p:sp>
        <p:nvSpPr>
          <p:cNvPr id="4" name="Text 2"/>
          <p:cNvSpPr txBox="1"/>
          <p:nvPr/>
        </p:nvSpPr>
        <p:spPr>
          <a:xfrm>
            <a:off x="457200" y="3017520"/>
            <a:ext cx="3291840" cy="274320"/>
          </a:xfrm>
          <a:prstGeom prst="rect">
            <a:avLst/>
          </a:prstGeom>
          <a:noFill/>
          <a:ln/>
        </p:spPr>
        <p:txBody>
          <a:bodyPr wrap="square" lIns="0" tIns="0" rIns="0" bIns="0" rtlCol="0" anchor="t"/>
          <a:lstStyle/>
          <a:p>
            <a:pPr marL="0" indent="0">
              <a:buNone/>
            </a:pPr>
            <a:r>
              <a:rPr lang="en-US" sz="1300" dirty="0">
                <a:solidFill>
                  <a:srgbClr val="4A4380"/>
                </a:solidFill>
                <a:latin typeface="Calibri" pitchFamily="34" charset="0"/>
                <a:ea typeface="Calibri" pitchFamily="34" charset="-122"/>
                <a:cs typeface="Calibri" pitchFamily="34" charset="-120"/>
              </a:rPr>
              <a:t>Hackathon · Team Details</a:t>
            </a:r>
            <a:endParaRPr lang="en-US" sz="1300" dirty="0"/>
          </a:p>
        </p:txBody>
      </p:sp>
      <p:pic>
        <p:nvPicPr>
          <p:cNvPr id="5" name="Bloch sphere ring" descr="sphere.png"/>
          <p:cNvPicPr>
            <a:picLocks noChangeAspect="1"/>
          </p:cNvPicPr>
          <p:nvPr/>
        </p:nvPicPr>
        <p:blipFill>
          <a:blip r:embed="rId3"/>
          <a:stretch>
            <a:fillRect/>
          </a:stretch>
        </p:blipFill>
        <p:spPr>
          <a:xfrm>
            <a:off x="457200" y="3291840"/>
            <a:ext cx="1371600" cy="1371600"/>
          </a:xfrm>
          <a:prstGeom prst="rect">
            <a:avLst/>
          </a:prstGeom>
        </p:spPr>
      </p:pic>
      <p:pic>
        <p:nvPicPr>
          <p:cNvPr id="6" name="Image 1" descr="bird1.png"/>
          <p:cNvPicPr>
            <a:picLocks noChangeAspect="1"/>
          </p:cNvPicPr>
          <p:nvPr/>
        </p:nvPicPr>
        <p:blipFill>
          <a:blip r:embed="rId4"/>
          <a:stretch>
            <a:fillRect/>
          </a:stretch>
        </p:blipFill>
        <p:spPr>
          <a:xfrm>
            <a:off x="2148840" y="3429000"/>
            <a:ext cx="731520" cy="438912"/>
          </a:xfrm>
          <a:prstGeom prst="rect">
            <a:avLst/>
          </a:prstGeom>
        </p:spPr>
      </p:pic>
      <p:pic>
        <p:nvPicPr>
          <p:cNvPr id="7" name="Image 2" descr="bird2.png"/>
          <p:cNvPicPr>
            <a:picLocks noChangeAspect="1"/>
          </p:cNvPicPr>
          <p:nvPr/>
        </p:nvPicPr>
        <p:blipFill>
          <a:blip r:embed="rId5"/>
          <a:stretch>
            <a:fillRect/>
          </a:stretch>
        </p:blipFill>
        <p:spPr>
          <a:xfrm>
            <a:off x="2880360" y="3977640"/>
            <a:ext cx="502920" cy="301752"/>
          </a:xfrm>
          <a:prstGeom prst="rect">
            <a:avLst/>
          </a:prstGeom>
        </p:spPr>
      </p:pic>
      <p:pic>
        <p:nvPicPr>
          <p:cNvPr id="8" name="Image 3" descr="bird3.png"/>
          <p:cNvPicPr>
            <a:picLocks noChangeAspect="1"/>
          </p:cNvPicPr>
          <p:nvPr/>
        </p:nvPicPr>
        <p:blipFill>
          <a:blip r:embed="rId6"/>
          <a:stretch>
            <a:fillRect/>
          </a:stretch>
        </p:blipFill>
        <p:spPr>
          <a:xfrm>
            <a:off x="2331720" y="4297680"/>
            <a:ext cx="384048" cy="228600"/>
          </a:xfrm>
          <a:prstGeom prst="rect">
            <a:avLst/>
          </a:prstGeom>
        </p:spPr>
      </p:pic>
      <p:sp>
        <p:nvSpPr>
          <p:cNvPr id="9" name="Text 3"/>
          <p:cNvSpPr txBox="1"/>
          <p:nvPr/>
        </p:nvSpPr>
        <p:spPr>
          <a:xfrm>
            <a:off x="4023360" y="841248"/>
            <a:ext cx="4663440" cy="320040"/>
          </a:xfrm>
          <a:prstGeom prst="rect">
            <a:avLst/>
          </a:prstGeom>
          <a:noFill/>
          <a:ln/>
        </p:spPr>
        <p:txBody>
          <a:bodyPr wrap="square" lIns="0" tIns="0" rIns="0" bIns="0" rtlCol="0" anchor="t"/>
          <a:lstStyle/>
          <a:p>
            <a:pPr marL="0" indent="0">
              <a:buNone/>
            </a:pPr>
            <a:r>
              <a:rPr lang="en-US" sz="1600" b="1" dirty="0">
                <a:solidFill>
                  <a:srgbClr val="2E1B5B"/>
                </a:solidFill>
                <a:latin typeface="Georgia" pitchFamily="34" charset="0"/>
                <a:ea typeface="Georgia" pitchFamily="34" charset="-122"/>
                <a:cs typeface="Georgia" pitchFamily="34" charset="-120"/>
              </a:rPr>
              <a:t>Participant Details</a:t>
            </a:r>
            <a:endParaRPr lang="en-US" sz="1600" dirty="0"/>
          </a:p>
        </p:txBody>
      </p:sp>
      <p:sp>
        <p:nvSpPr>
          <p:cNvPr id="10" name="Field: PROJECT TITLE"/>
          <p:cNvSpPr/>
          <p:nvPr/>
        </p:nvSpPr>
        <p:spPr>
          <a:xfrm>
            <a:off x="4023360" y="1261872"/>
            <a:ext cx="466344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PROJECT TITLE</a:t>
            </a:r>
            <a:endParaRPr lang="en-US" sz="900" dirty="0"/>
          </a:p>
          <a:p>
            <a:pPr marL="0" indent="0" algn="l">
              <a:buNone/>
            </a:pPr>
            <a:r>
              <a:rPr lang="en-US" sz="1200" i="1" dirty="0" err="1">
                <a:solidFill>
                  <a:srgbClr val="6F7399"/>
                </a:solidFill>
                <a:latin typeface="Calibri" pitchFamily="34" charset="0"/>
                <a:ea typeface="Calibri" pitchFamily="34" charset="-122"/>
                <a:cs typeface="Calibri" pitchFamily="34" charset="-120"/>
              </a:rPr>
              <a:t>QuantumaPredict</a:t>
            </a:r>
            <a:r>
              <a:rPr lang="en-US" sz="1200" i="1" dirty="0">
                <a:solidFill>
                  <a:srgbClr val="6F7399"/>
                </a:solidFill>
                <a:latin typeface="Calibri" pitchFamily="34" charset="0"/>
                <a:ea typeface="Calibri" pitchFamily="34" charset="-122"/>
                <a:cs typeface="Calibri" pitchFamily="34" charset="-120"/>
              </a:rPr>
              <a:t> : Intelligent Industrial Failure Prediction</a:t>
            </a:r>
            <a:endParaRPr lang="en-US" sz="900" dirty="0"/>
          </a:p>
        </p:txBody>
      </p:sp>
      <p:sp>
        <p:nvSpPr>
          <p:cNvPr id="11" name="Field: TRACK"/>
          <p:cNvSpPr/>
          <p:nvPr/>
        </p:nvSpPr>
        <p:spPr>
          <a:xfrm>
            <a:off x="4023360" y="18653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TRACK</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4</a:t>
            </a:r>
            <a:endParaRPr lang="en-US" sz="900" dirty="0"/>
          </a:p>
        </p:txBody>
      </p:sp>
      <p:sp>
        <p:nvSpPr>
          <p:cNvPr id="12" name="Field: TEAM NAME"/>
          <p:cNvSpPr/>
          <p:nvPr/>
        </p:nvSpPr>
        <p:spPr>
          <a:xfrm>
            <a:off x="6400800" y="18653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NAME</a:t>
            </a:r>
            <a:endParaRPr lang="en-US" sz="900" dirty="0"/>
          </a:p>
          <a:p>
            <a:pPr marL="0" indent="0" algn="l">
              <a:buNone/>
            </a:pPr>
            <a:r>
              <a:rPr lang="en-US" sz="1200" i="1" dirty="0" err="1">
                <a:solidFill>
                  <a:srgbClr val="6F7399"/>
                </a:solidFill>
                <a:latin typeface="Calibri" pitchFamily="34" charset="0"/>
                <a:ea typeface="Calibri" pitchFamily="34" charset="-122"/>
                <a:cs typeface="Calibri" pitchFamily="34" charset="-120"/>
              </a:rPr>
              <a:t>Qubexis</a:t>
            </a:r>
            <a:endParaRPr lang="en-US" sz="900" dirty="0"/>
          </a:p>
        </p:txBody>
      </p:sp>
      <p:sp>
        <p:nvSpPr>
          <p:cNvPr id="13" name="Field: TEAM LEADER"/>
          <p:cNvSpPr/>
          <p:nvPr/>
        </p:nvSpPr>
        <p:spPr>
          <a:xfrm>
            <a:off x="402336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LEADER</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Parvati </a:t>
            </a:r>
            <a:r>
              <a:rPr lang="en-US" sz="1200" i="1" dirty="0" err="1">
                <a:solidFill>
                  <a:srgbClr val="6F7399"/>
                </a:solidFill>
                <a:latin typeface="Calibri" pitchFamily="34" charset="0"/>
                <a:ea typeface="Calibri" pitchFamily="34" charset="-122"/>
                <a:cs typeface="Calibri" pitchFamily="34" charset="-120"/>
              </a:rPr>
              <a:t>Hurakadli</a:t>
            </a:r>
            <a:endParaRPr lang="en-US" sz="900" dirty="0"/>
          </a:p>
        </p:txBody>
      </p:sp>
      <p:sp>
        <p:nvSpPr>
          <p:cNvPr id="14" name="Field: EMAIL / CONTACT"/>
          <p:cNvSpPr/>
          <p:nvPr/>
        </p:nvSpPr>
        <p:spPr>
          <a:xfrm>
            <a:off x="640080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EMAIL / CONTACT</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7019283837</a:t>
            </a:r>
            <a:endParaRPr lang="en-US" sz="900" dirty="0"/>
          </a:p>
        </p:txBody>
      </p:sp>
      <p:sp>
        <p:nvSpPr>
          <p:cNvPr id="15" name="Field: TEAM MEMBERS"/>
          <p:cNvSpPr/>
          <p:nvPr/>
        </p:nvSpPr>
        <p:spPr>
          <a:xfrm>
            <a:off x="4023360" y="3072384"/>
            <a:ext cx="4663440" cy="777240"/>
          </a:xfrm>
          <a:prstGeom prst="roundRect">
            <a:avLst>
              <a:gd name="adj" fmla="val 7059"/>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MEMBERS</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Parvati </a:t>
            </a:r>
            <a:r>
              <a:rPr lang="en-US" sz="1200" i="1" dirty="0" err="1">
                <a:solidFill>
                  <a:srgbClr val="6F7399"/>
                </a:solidFill>
                <a:latin typeface="Calibri" pitchFamily="34" charset="0"/>
                <a:ea typeface="Calibri" pitchFamily="34" charset="-122"/>
                <a:cs typeface="Calibri" pitchFamily="34" charset="-120"/>
              </a:rPr>
              <a:t>Hurakadli</a:t>
            </a:r>
            <a:r>
              <a:rPr lang="en-US" sz="1200" i="1" dirty="0">
                <a:solidFill>
                  <a:srgbClr val="6F7399"/>
                </a:solidFill>
                <a:latin typeface="Calibri" pitchFamily="34" charset="0"/>
                <a:ea typeface="Calibri" pitchFamily="34" charset="-122"/>
                <a:cs typeface="Calibri" pitchFamily="34" charset="-120"/>
              </a:rPr>
              <a:t>  ·  Sahana J C  ·  Sadhana </a:t>
            </a:r>
            <a:r>
              <a:rPr lang="en-US" sz="1200" i="1" dirty="0" err="1">
                <a:solidFill>
                  <a:srgbClr val="6F7399"/>
                </a:solidFill>
                <a:latin typeface="Calibri" pitchFamily="34" charset="0"/>
                <a:ea typeface="Calibri" pitchFamily="34" charset="-122"/>
                <a:cs typeface="Calibri" pitchFamily="34" charset="-120"/>
              </a:rPr>
              <a:t>Vajramatti</a:t>
            </a:r>
            <a:endParaRPr lang="en-US" sz="900" dirty="0"/>
          </a:p>
        </p:txBody>
      </p:sp>
      <p:sp>
        <p:nvSpPr>
          <p:cNvPr id="16" name="Field: INSTITUTION / ORGANISATION"/>
          <p:cNvSpPr/>
          <p:nvPr/>
        </p:nvSpPr>
        <p:spPr>
          <a:xfrm>
            <a:off x="4023360" y="39227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INSTITUTION / ORGANISATION</a:t>
            </a:r>
            <a:endParaRPr lang="en-US" sz="900" dirty="0"/>
          </a:p>
          <a:p>
            <a:pPr marL="0" indent="0" algn="l">
              <a:buNone/>
            </a:pPr>
            <a:r>
              <a:rPr lang="en-US" sz="1200" i="1" dirty="0" err="1">
                <a:solidFill>
                  <a:srgbClr val="6F7399"/>
                </a:solidFill>
                <a:latin typeface="Calibri" pitchFamily="34" charset="0"/>
                <a:ea typeface="Calibri" pitchFamily="34" charset="-122"/>
                <a:cs typeface="Calibri" pitchFamily="34" charset="-120"/>
              </a:rPr>
              <a:t>UBDTCE,Davanagere</a:t>
            </a:r>
            <a:endParaRPr lang="en-US" sz="900" dirty="0"/>
          </a:p>
        </p:txBody>
      </p:sp>
      <p:sp>
        <p:nvSpPr>
          <p:cNvPr id="17" name="Field: COUNTRY"/>
          <p:cNvSpPr/>
          <p:nvPr/>
        </p:nvSpPr>
        <p:spPr>
          <a:xfrm>
            <a:off x="6400800" y="39227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COUNTRY</a:t>
            </a:r>
          </a:p>
          <a:p>
            <a:pPr marL="0" indent="0" algn="l">
              <a:buNone/>
            </a:pPr>
            <a:r>
              <a:rPr lang="en-US" sz="1200" i="1" dirty="0">
                <a:solidFill>
                  <a:srgbClr val="6F7399"/>
                </a:solidFill>
                <a:latin typeface="Calibri" pitchFamily="34" charset="0"/>
                <a:ea typeface="Calibri" pitchFamily="34" charset="-122"/>
                <a:cs typeface="Calibri" pitchFamily="34" charset="-120"/>
              </a:rPr>
              <a:t>India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Problem Statement</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sp>
      <p:sp>
        <p:nvSpPr>
          <p:cNvPr id="8" name="Text 6"/>
          <p:cNvSpPr txBox="1"/>
          <p:nvPr/>
        </p:nvSpPr>
        <p:spPr>
          <a:xfrm>
            <a:off x="731520" y="1874519"/>
            <a:ext cx="7685970" cy="2427733"/>
          </a:xfrm>
          <a:prstGeom prst="rect">
            <a:avLst/>
          </a:prstGeom>
          <a:noFill/>
          <a:ln/>
        </p:spPr>
        <p:txBody>
          <a:bodyPr wrap="square" lIns="0" tIns="0" rIns="0" bIns="0" rtlCol="0" anchor="t"/>
          <a:lstStyle/>
          <a:p>
            <a:r>
              <a:rPr lang="en-US" sz="1600" i="1" dirty="0" err="1">
                <a:solidFill>
                  <a:srgbClr val="6F7399"/>
                </a:solidFill>
                <a:latin typeface="Calibri" pitchFamily="34" charset="0"/>
                <a:ea typeface="Calibri" pitchFamily="34" charset="-122"/>
                <a:cs typeface="Calibri" pitchFamily="34" charset="-120"/>
              </a:rPr>
              <a:t>QuantumPredict</a:t>
            </a:r>
            <a:r>
              <a:rPr lang="en-US" sz="1600" i="1" dirty="0">
                <a:solidFill>
                  <a:srgbClr val="6F7399"/>
                </a:solidFill>
                <a:latin typeface="Calibri" pitchFamily="34" charset="0"/>
                <a:ea typeface="Calibri" pitchFamily="34" charset="-122"/>
                <a:cs typeface="Calibri" pitchFamily="34" charset="-120"/>
              </a:rPr>
              <a:t> — Intelligent Industrial Failure Prediction</a:t>
            </a:r>
          </a:p>
          <a:p>
            <a:endParaRPr lang="en-US" sz="1600" i="1" dirty="0">
              <a:solidFill>
                <a:srgbClr val="6F7399"/>
              </a:solidFill>
              <a:latin typeface="Calibri" pitchFamily="34" charset="0"/>
              <a:ea typeface="Calibri" pitchFamily="34" charset="-122"/>
              <a:cs typeface="Calibri" pitchFamily="34" charset="-120"/>
            </a:endParaRPr>
          </a:p>
          <a:p>
            <a:r>
              <a:rPr lang="en-US" sz="1600" i="1" dirty="0">
                <a:solidFill>
                  <a:srgbClr val="6F7399"/>
                </a:solidFill>
                <a:latin typeface="Calibri" pitchFamily="34" charset="0"/>
                <a:ea typeface="Calibri" pitchFamily="34" charset="-122"/>
                <a:cs typeface="Calibri" pitchFamily="34" charset="-120"/>
              </a:rPr>
              <a:t>Industrial machinery is critical to modern manufacturing, yet unexpected failures caused by changing operating conditions, excessive wear, and complex sensor interactions can lead to costly downtime, production losses, and safety risks. Conventional machine learning approaches offer predictive maintenance capabilities, but identifying intricate, nonlinear relationships among industrial sensor parameters remains a challenge.</a:t>
            </a:r>
          </a:p>
          <a:p>
            <a:endParaRPr lang="en-US" sz="1600" i="1" dirty="0">
              <a:solidFill>
                <a:srgbClr val="6F7399"/>
              </a:solidFill>
              <a:latin typeface="Calibri" pitchFamily="34" charset="0"/>
              <a:ea typeface="Calibri" pitchFamily="34" charset="-122"/>
              <a:cs typeface="Calibri" pitchFamily="34" charset="-120"/>
            </a:endParaRPr>
          </a:p>
          <a:p>
            <a:r>
              <a:rPr lang="en-US" sz="1600" i="1" dirty="0">
                <a:solidFill>
                  <a:srgbClr val="6F7399"/>
                </a:solidFill>
                <a:latin typeface="Calibri" pitchFamily="34" charset="0"/>
                <a:ea typeface="Calibri" pitchFamily="34" charset="-122"/>
                <a:cs typeface="Calibri" pitchFamily="34" charset="-120"/>
              </a:rPr>
              <a:t>The ultimate goal is to support timely maintenance decisions, reduce unexpected downtime, and explore the practical potential of quantum machine learning in intelligent manufacturing.</a:t>
            </a:r>
            <a:endParaRPr lang="en-US" sz="16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Objectives &amp; Novelty</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sp>
      <p:sp>
        <p:nvSpPr>
          <p:cNvPr id="8" name="Text 6"/>
          <p:cNvSpPr txBox="1"/>
          <p:nvPr/>
        </p:nvSpPr>
        <p:spPr>
          <a:xfrm>
            <a:off x="731519" y="1874519"/>
            <a:ext cx="7761127" cy="2688337"/>
          </a:xfrm>
          <a:prstGeom prst="rect">
            <a:avLst/>
          </a:prstGeom>
          <a:noFill/>
          <a:ln/>
        </p:spPr>
        <p:txBody>
          <a:bodyPr wrap="square" lIns="0" tIns="0" rIns="0" bIns="0" rtlCol="0" anchor="t"/>
          <a:lstStyle/>
          <a:p>
            <a:r>
              <a:rPr lang="en-US" sz="1600" i="1" dirty="0">
                <a:solidFill>
                  <a:srgbClr val="6F7399"/>
                </a:solidFill>
                <a:latin typeface="Calibri" pitchFamily="34" charset="0"/>
                <a:ea typeface="Calibri" pitchFamily="34" charset="-122"/>
                <a:cs typeface="Calibri" pitchFamily="34" charset="-120"/>
              </a:rPr>
              <a:t>Objectives:</a:t>
            </a:r>
          </a:p>
          <a:p>
            <a:pPr marL="285750" indent="-285750">
              <a:buFont typeface="Arial" panose="020B0604020202020204" pitchFamily="34" charset="0"/>
              <a:buChar char="•"/>
            </a:pPr>
            <a:r>
              <a:rPr lang="en-US" sz="1600" i="1" dirty="0">
                <a:solidFill>
                  <a:srgbClr val="6F7399"/>
                </a:solidFill>
                <a:latin typeface="Calibri" pitchFamily="34" charset="0"/>
                <a:ea typeface="Calibri" pitchFamily="34" charset="-122"/>
                <a:cs typeface="Calibri" pitchFamily="34" charset="-120"/>
              </a:rPr>
              <a:t>Predict machine failures early using industrial sensor data from the AI4I 2020 dataset.</a:t>
            </a:r>
          </a:p>
          <a:p>
            <a:pPr marL="285750" indent="-285750">
              <a:buFont typeface="Arial" panose="020B0604020202020204" pitchFamily="34" charset="0"/>
              <a:buChar char="•"/>
            </a:pPr>
            <a:r>
              <a:rPr lang="en-US" sz="1600" i="1" dirty="0">
                <a:solidFill>
                  <a:srgbClr val="6F7399"/>
                </a:solidFill>
                <a:latin typeface="Calibri" pitchFamily="34" charset="0"/>
                <a:ea typeface="Calibri" pitchFamily="34" charset="-122"/>
                <a:cs typeface="Calibri" pitchFamily="34" charset="-120"/>
              </a:rPr>
              <a:t>Build and compare a classical machine-learning model (Random Forest) and a quantum machine-learning model.</a:t>
            </a:r>
          </a:p>
          <a:p>
            <a:pPr marL="285750" indent="-285750">
              <a:buFont typeface="Arial" panose="020B0604020202020204" pitchFamily="34" charset="0"/>
              <a:buChar char="•"/>
            </a:pPr>
            <a:r>
              <a:rPr lang="en-US" sz="1600" i="1" dirty="0">
                <a:solidFill>
                  <a:srgbClr val="6F7399"/>
                </a:solidFill>
                <a:latin typeface="Calibri" pitchFamily="34" charset="0"/>
                <a:ea typeface="Calibri" pitchFamily="34" charset="-122"/>
                <a:cs typeface="Calibri" pitchFamily="34" charset="-120"/>
              </a:rPr>
              <a:t>Evaluate real-world usefulness using failure-detection metrics such as recall, precision, F1-score, and false alarms—not accuracy alone.</a:t>
            </a:r>
          </a:p>
          <a:p>
            <a:endParaRPr lang="en-US" sz="1600" i="1" dirty="0">
              <a:solidFill>
                <a:srgbClr val="6F7399"/>
              </a:solidFill>
              <a:latin typeface="Calibri" pitchFamily="34" charset="0"/>
              <a:ea typeface="Calibri" pitchFamily="34" charset="-122"/>
              <a:cs typeface="Calibri" pitchFamily="34" charset="-120"/>
            </a:endParaRPr>
          </a:p>
          <a:p>
            <a:r>
              <a:rPr lang="en-US" sz="1600" i="1" dirty="0">
                <a:solidFill>
                  <a:srgbClr val="6F7399"/>
                </a:solidFill>
                <a:latin typeface="Calibri" pitchFamily="34" charset="0"/>
                <a:ea typeface="Calibri" pitchFamily="34" charset="-122"/>
                <a:cs typeface="Calibri" pitchFamily="34" charset="-120"/>
              </a:rPr>
              <a:t>Novelty:</a:t>
            </a:r>
          </a:p>
          <a:p>
            <a:r>
              <a:rPr lang="en-US" sz="1600" i="1" dirty="0" err="1">
                <a:solidFill>
                  <a:srgbClr val="6F7399"/>
                </a:solidFill>
                <a:latin typeface="Calibri" pitchFamily="34" charset="0"/>
                <a:ea typeface="Calibri" pitchFamily="34" charset="-122"/>
                <a:cs typeface="Calibri" pitchFamily="34" charset="-120"/>
              </a:rPr>
              <a:t>QuantumPredict</a:t>
            </a:r>
            <a:r>
              <a:rPr lang="en-US" sz="1600" i="1" dirty="0">
                <a:solidFill>
                  <a:srgbClr val="6F7399"/>
                </a:solidFill>
                <a:latin typeface="Calibri" pitchFamily="34" charset="0"/>
                <a:ea typeface="Calibri" pitchFamily="34" charset="-122"/>
                <a:cs typeface="Calibri" pitchFamily="34" charset="-120"/>
              </a:rPr>
              <a:t> explores whether quantum machine learning can complement classical AI in early industrial failure detection, using a fair, metrics-driven comparison.</a:t>
            </a:r>
            <a:endParaRPr lang="en-US" sz="16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Solution &amp; Quantum Advantage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5B3BA8"/>
          </a:solidFill>
          <a:ln w="12700">
            <a:solidFill>
              <a:srgbClr val="5B3BA8"/>
            </a:solidFill>
            <a:prstDash val="solid"/>
          </a:ln>
        </p:spPr>
      </p:sp>
      <p:sp>
        <p:nvSpPr>
          <p:cNvPr id="8" name="Text 6"/>
          <p:cNvSpPr txBox="1"/>
          <p:nvPr/>
        </p:nvSpPr>
        <p:spPr>
          <a:xfrm>
            <a:off x="643837" y="1799364"/>
            <a:ext cx="7955281" cy="1753268"/>
          </a:xfrm>
          <a:prstGeom prst="rect">
            <a:avLst/>
          </a:prstGeom>
          <a:noFill/>
          <a:ln/>
        </p:spPr>
        <p:txBody>
          <a:bodyPr wrap="square" lIns="0" tIns="0" rIns="0" bIns="0" rtlCol="0" anchor="t"/>
          <a:lstStyle/>
          <a:p>
            <a:r>
              <a:rPr lang="en-US" sz="1400" i="1" dirty="0">
                <a:solidFill>
                  <a:srgbClr val="6F7399"/>
                </a:solidFill>
                <a:latin typeface="Calibri" pitchFamily="34" charset="0"/>
                <a:ea typeface="Calibri" pitchFamily="34" charset="-122"/>
                <a:cs typeface="Calibri" pitchFamily="34" charset="-120"/>
              </a:rPr>
              <a:t>Solution</a:t>
            </a:r>
          </a:p>
          <a:p>
            <a:r>
              <a:rPr lang="en-US" sz="1400" i="1" dirty="0" err="1">
                <a:solidFill>
                  <a:srgbClr val="6F7399"/>
                </a:solidFill>
                <a:latin typeface="Calibri" pitchFamily="34" charset="0"/>
                <a:ea typeface="Calibri" pitchFamily="34" charset="-122"/>
                <a:cs typeface="Calibri" pitchFamily="34" charset="-120"/>
              </a:rPr>
              <a:t>QuantumPredict</a:t>
            </a:r>
            <a:r>
              <a:rPr lang="en-US" sz="1400" i="1" dirty="0">
                <a:solidFill>
                  <a:srgbClr val="6F7399"/>
                </a:solidFill>
                <a:latin typeface="Calibri" pitchFamily="34" charset="0"/>
                <a:ea typeface="Calibri" pitchFamily="34" charset="-122"/>
                <a:cs typeface="Calibri" pitchFamily="34" charset="-120"/>
              </a:rPr>
              <a:t> analyzes machine sensor readings—such as temperature, rotational speed, torque, and tool wear—to estimate the risk of machine failure. It compares a Random Forest model with a 4-qubit variational quantum classifier, then evaluates their failure-detection performance to support earlier maintenance decisions.</a:t>
            </a:r>
          </a:p>
          <a:p>
            <a:endParaRPr lang="en-US" sz="1400" i="1" dirty="0">
              <a:solidFill>
                <a:srgbClr val="6F7399"/>
              </a:solidFill>
              <a:latin typeface="Calibri" pitchFamily="34" charset="0"/>
              <a:ea typeface="Calibri" pitchFamily="34" charset="-122"/>
              <a:cs typeface="Calibri" pitchFamily="34" charset="-120"/>
            </a:endParaRPr>
          </a:p>
          <a:p>
            <a:r>
              <a:rPr lang="en-US" sz="1400" i="1" dirty="0">
                <a:solidFill>
                  <a:srgbClr val="6F7399"/>
                </a:solidFill>
                <a:latin typeface="Calibri" pitchFamily="34" charset="0"/>
                <a:ea typeface="Calibri" pitchFamily="34" charset="-122"/>
                <a:cs typeface="Calibri" pitchFamily="34" charset="-120"/>
              </a:rPr>
              <a:t>Quantum Advantage</a:t>
            </a:r>
          </a:p>
          <a:p>
            <a:r>
              <a:rPr lang="en-US" sz="1400" i="1" dirty="0">
                <a:solidFill>
                  <a:srgbClr val="6F7399"/>
                </a:solidFill>
                <a:latin typeface="Calibri" pitchFamily="34" charset="0"/>
                <a:ea typeface="Calibri" pitchFamily="34" charset="-122"/>
                <a:cs typeface="Calibri" pitchFamily="34" charset="-120"/>
              </a:rPr>
              <a:t>A quantum model may represent complex relationships among sensor features in a different way, potentially helping identify patterns that classical models find difficult. However, our current results do not demonstrate a quantum advantage: the quantum classifier produces many false alarms and performs worse than Random Forest. The project’s contribution is to test this potential fairly and identify where quantum ML may—or may not—be useful . We investigate whether quantum feature representations can improve industrial failure detection, benchmarking them against classical AI using the same data and metrics.</a:t>
            </a:r>
            <a:endParaRPr lang="en-US" sz="14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Algorithm &amp; Circuit Design</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Insert area"/>
          <p:cNvSpPr/>
          <p:nvPr/>
        </p:nvSpPr>
        <p:spPr>
          <a:xfrm>
            <a:off x="457200" y="1691640"/>
            <a:ext cx="4937760" cy="2926080"/>
          </a:xfrm>
          <a:prstGeom prst="roundRect">
            <a:avLst>
              <a:gd name="adj" fmla="val 2500"/>
            </a:avLst>
          </a:prstGeom>
          <a:solidFill>
            <a:srgbClr val="EEF0FE"/>
          </a:solidFill>
          <a:ln w="15875">
            <a:solidFill>
              <a:srgbClr val="7C93F0"/>
            </a:solidFill>
            <a:prstDash val="dash"/>
          </a:ln>
        </p:spPr>
      </p:sp>
      <p:sp>
        <p:nvSpPr>
          <p:cNvPr id="7" name="Text 5"/>
          <p:cNvSpPr txBox="1"/>
          <p:nvPr/>
        </p:nvSpPr>
        <p:spPr>
          <a:xfrm>
            <a:off x="640080" y="1874520"/>
            <a:ext cx="4572000" cy="2560320"/>
          </a:xfrm>
          <a:prstGeom prst="rect">
            <a:avLst/>
          </a:prstGeom>
          <a:noFill/>
          <a:ln/>
        </p:spPr>
        <p:txBody>
          <a:bodyPr wrap="square" lIns="0" tIns="0" rIns="0" bIns="0" rtlCol="0" anchor="ctr"/>
          <a:lstStyle/>
          <a:p>
            <a:pPr marL="0" indent="0" algn="ctr">
              <a:buNone/>
            </a:pPr>
            <a:r>
              <a:rPr lang="en-US" sz="1400" b="1" dirty="0">
                <a:solidFill>
                  <a:srgbClr val="5B3BA8"/>
                </a:solidFill>
                <a:latin typeface="Calibri" pitchFamily="34" charset="0"/>
                <a:ea typeface="Calibri" pitchFamily="34" charset="-122"/>
                <a:cs typeface="Calibri" pitchFamily="34" charset="-120"/>
              </a:rPr>
              <a:t>Insert circuit diagram</a:t>
            </a:r>
            <a:endParaRPr lang="en-US" sz="1400" dirty="0"/>
          </a:p>
          <a:p>
            <a:pPr marL="0" indent="0" algn="ctr">
              <a:buNone/>
            </a:pPr>
            <a:r>
              <a:rPr lang="en-US" sz="1100" i="1" dirty="0">
                <a:solidFill>
                  <a:srgbClr val="6F7399"/>
                </a:solidFill>
                <a:latin typeface="Calibri" pitchFamily="34" charset="0"/>
                <a:ea typeface="Calibri" pitchFamily="34" charset="-122"/>
                <a:cs typeface="Calibri" pitchFamily="34" charset="-120"/>
              </a:rPr>
              <a:t>e.g. qc.draw("mpl")</a:t>
            </a:r>
            <a:endParaRPr lang="en-US" sz="1400" dirty="0"/>
          </a:p>
        </p:txBody>
      </p:sp>
      <p:sp>
        <p:nvSpPr>
          <p:cNvPr id="8" name="Content card"/>
          <p:cNvSpPr/>
          <p:nvPr/>
        </p:nvSpPr>
        <p:spPr>
          <a:xfrm>
            <a:off x="5577840" y="1554481"/>
            <a:ext cx="3403322" cy="3155303"/>
          </a:xfrm>
          <a:prstGeom prst="roundRect">
            <a:avLst>
              <a:gd name="adj" fmla="val 2500"/>
            </a:avLst>
          </a:prstGeom>
          <a:solidFill>
            <a:srgbClr val="FFFFFF"/>
          </a:solidFill>
          <a:ln w="9525">
            <a:solidFill>
              <a:srgbClr val="B8BDEB"/>
            </a:solidFill>
            <a:prstDash val="solid"/>
          </a:ln>
        </p:spPr>
      </p:sp>
      <p:sp>
        <p:nvSpPr>
          <p:cNvPr id="9" name="Card accent"/>
          <p:cNvSpPr/>
          <p:nvPr/>
        </p:nvSpPr>
        <p:spPr>
          <a:xfrm>
            <a:off x="5806440" y="1516276"/>
            <a:ext cx="822960" cy="54864"/>
          </a:xfrm>
          <a:prstGeom prst="rect">
            <a:avLst/>
          </a:prstGeom>
          <a:solidFill>
            <a:srgbClr val="7C93F0"/>
          </a:solidFill>
          <a:ln w="12700">
            <a:solidFill>
              <a:srgbClr val="7C93F0"/>
            </a:solidFill>
            <a:prstDash val="solid"/>
          </a:ln>
        </p:spPr>
      </p:sp>
      <p:sp>
        <p:nvSpPr>
          <p:cNvPr id="10" name="Text 8"/>
          <p:cNvSpPr txBox="1"/>
          <p:nvPr/>
        </p:nvSpPr>
        <p:spPr>
          <a:xfrm>
            <a:off x="5606024" y="1573895"/>
            <a:ext cx="3403322" cy="1181831"/>
          </a:xfrm>
          <a:prstGeom prst="rect">
            <a:avLst/>
          </a:prstGeom>
          <a:noFill/>
          <a:ln/>
        </p:spPr>
        <p:txBody>
          <a:bodyPr wrap="square" lIns="0" tIns="0" rIns="0" bIns="0" rtlCol="0" anchor="t"/>
          <a:lstStyle/>
          <a:p>
            <a:r>
              <a:rPr lang="en-US" sz="1200" i="1" dirty="0">
                <a:solidFill>
                  <a:srgbClr val="6F7399"/>
                </a:solidFill>
                <a:latin typeface="Calibri" pitchFamily="34" charset="0"/>
                <a:ea typeface="Calibri" pitchFamily="34" charset="-122"/>
                <a:cs typeface="Calibri" pitchFamily="34" charset="-120"/>
              </a:rPr>
              <a:t>Four-Qubit Variational Quantum Classifier Architecture</a:t>
            </a:r>
          </a:p>
          <a:p>
            <a:r>
              <a:rPr lang="en-US" sz="1200" i="1" dirty="0">
                <a:solidFill>
                  <a:srgbClr val="6F7399"/>
                </a:solidFill>
                <a:latin typeface="Calibri" pitchFamily="34" charset="0"/>
                <a:ea typeface="Calibri" pitchFamily="34" charset="-122"/>
                <a:cs typeface="Calibri" pitchFamily="34" charset="-120"/>
              </a:rPr>
              <a:t>Include these three stages:</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Data Encoding: Four PCA components encoded using Ry rotations.</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Variational Circuit: Two trainable </a:t>
            </a:r>
            <a:r>
              <a:rPr lang="en-US" sz="1200" i="1" dirty="0" err="1">
                <a:solidFill>
                  <a:srgbClr val="6F7399"/>
                </a:solidFill>
                <a:latin typeface="Calibri" pitchFamily="34" charset="0"/>
                <a:ea typeface="Calibri" pitchFamily="34" charset="-122"/>
                <a:cs typeface="Calibri" pitchFamily="34" charset="-120"/>
              </a:rPr>
              <a:t>StronglyEntanglingLayers</a:t>
            </a:r>
            <a:r>
              <a:rPr lang="en-US" sz="1200" i="1" dirty="0">
                <a:solidFill>
                  <a:srgbClr val="6F7399"/>
                </a:solidFill>
                <a:latin typeface="Calibri" pitchFamily="34" charset="0"/>
                <a:ea typeface="Calibri" pitchFamily="34" charset="-122"/>
                <a:cs typeface="Calibri" pitchFamily="34" charset="-120"/>
              </a:rPr>
              <a:t> blocks.</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Measurement: Expectation value of Pauli-Z on qubit 0, producing a score between −1 and +1.</a:t>
            </a:r>
          </a:p>
          <a:p>
            <a:r>
              <a:rPr lang="en-US" sz="1200" i="1" dirty="0">
                <a:solidFill>
                  <a:srgbClr val="6F7399"/>
                </a:solidFill>
                <a:latin typeface="Calibri" pitchFamily="34" charset="0"/>
                <a:ea typeface="Calibri" pitchFamily="34" charset="-122"/>
                <a:cs typeface="Calibri" pitchFamily="34" charset="-120"/>
              </a:rPr>
              <a:t>Algorithm</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Sensor data collection and preprocessing.</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Feature scaling and 4-feature selection.</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Random Forest baseline training.</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Quantum data encoding using RY gates.</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Variational training using parameterized quantum gates . Measurement and failure prediction.</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Performance comparison using F1-score, recall, and precision.</a:t>
            </a:r>
          </a:p>
          <a:p>
            <a:endParaRPr lang="en-US" sz="1200" i="1" dirty="0">
              <a:solidFill>
                <a:srgbClr val="6F7399"/>
              </a:solidFill>
              <a:latin typeface="Calibri" pitchFamily="34" charset="0"/>
              <a:ea typeface="Calibri" pitchFamily="34" charset="-122"/>
              <a:cs typeface="Calibri" pitchFamily="34" charset="-120"/>
            </a:endParaRPr>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5</a:t>
            </a:fld>
            <a:endParaRPr lang="en-US"/>
          </a:p>
        </p:txBody>
      </p:sp>
      <p:pic>
        <p:nvPicPr>
          <p:cNvPr id="14" name="Picture 13">
            <a:extLst>
              <a:ext uri="{FF2B5EF4-FFF2-40B4-BE49-F238E27FC236}">
                <a16:creationId xmlns:a16="http://schemas.microsoft.com/office/drawing/2014/main" id="{F2D89961-0284-89FD-43B0-6ACD7598AFD4}"/>
              </a:ext>
            </a:extLst>
          </p:cNvPr>
          <p:cNvPicPr>
            <a:picLocks noChangeAspect="1"/>
          </p:cNvPicPr>
          <p:nvPr/>
        </p:nvPicPr>
        <p:blipFill>
          <a:blip r:embed="rId3"/>
          <a:stretch>
            <a:fillRect/>
          </a:stretch>
        </p:blipFill>
        <p:spPr>
          <a:xfrm>
            <a:off x="91440" y="1616860"/>
            <a:ext cx="5394960" cy="31013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Implementation &amp; Tech Stack</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382000" cy="305816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sp>
      <p:sp>
        <p:nvSpPr>
          <p:cNvPr id="8" name="Text 6"/>
          <p:cNvSpPr txBox="1"/>
          <p:nvPr/>
        </p:nvSpPr>
        <p:spPr>
          <a:xfrm>
            <a:off x="521716" y="1834896"/>
            <a:ext cx="4507484" cy="1746504"/>
          </a:xfrm>
          <a:prstGeom prst="rect">
            <a:avLst/>
          </a:prstGeom>
          <a:noFill/>
          <a:ln/>
        </p:spPr>
        <p:txBody>
          <a:bodyPr wrap="square" lIns="0" tIns="0" rIns="0" bIns="0" rtlCol="0" anchor="t"/>
          <a:lstStyle/>
          <a:p>
            <a:r>
              <a:rPr lang="en-US" sz="1200" i="1" dirty="0">
                <a:solidFill>
                  <a:srgbClr val="6F7399"/>
                </a:solidFill>
                <a:latin typeface="Calibri" pitchFamily="34" charset="0"/>
                <a:ea typeface="Calibri" pitchFamily="34" charset="-122"/>
                <a:cs typeface="Calibri" pitchFamily="34" charset="-120"/>
              </a:rPr>
              <a:t> IMPLEMENTATION</a:t>
            </a:r>
          </a:p>
          <a:p>
            <a:r>
              <a:rPr lang="en-US" sz="1200" i="1" dirty="0">
                <a:solidFill>
                  <a:srgbClr val="6F7399"/>
                </a:solidFill>
                <a:latin typeface="Calibri" pitchFamily="34" charset="0"/>
                <a:ea typeface="Calibri" pitchFamily="34" charset="-122"/>
                <a:cs typeface="Calibri" pitchFamily="34" charset="-120"/>
              </a:rPr>
              <a:t>1. Dataset &amp; Preprocessing</a:t>
            </a:r>
          </a:p>
          <a:p>
            <a:r>
              <a:rPr lang="en-US" sz="1200" i="1" dirty="0">
                <a:solidFill>
                  <a:srgbClr val="6F7399"/>
                </a:solidFill>
                <a:latin typeface="Calibri" pitchFamily="34" charset="0"/>
                <a:ea typeface="Calibri" pitchFamily="34" charset="-122"/>
                <a:cs typeface="Calibri" pitchFamily="34" charset="-120"/>
              </a:rPr>
              <a:t>AI4I 2020 Predictive Maintenance Dataset</a:t>
            </a:r>
          </a:p>
          <a:p>
            <a:r>
              <a:rPr lang="en-US" sz="1200" i="1" dirty="0">
                <a:solidFill>
                  <a:srgbClr val="6F7399"/>
                </a:solidFill>
                <a:latin typeface="Calibri" pitchFamily="34" charset="0"/>
                <a:ea typeface="Calibri" pitchFamily="34" charset="-122"/>
                <a:cs typeface="Calibri" pitchFamily="34" charset="-120"/>
              </a:rPr>
              <a:t>Feature scaling and PCA dimensionality reduction (5 → 4 components)</a:t>
            </a:r>
          </a:p>
          <a:p>
            <a:r>
              <a:rPr lang="en-US" sz="1200" i="1" dirty="0">
                <a:solidFill>
                  <a:srgbClr val="6F7399"/>
                </a:solidFill>
                <a:latin typeface="Calibri" pitchFamily="34" charset="0"/>
                <a:ea typeface="Calibri" pitchFamily="34" charset="-122"/>
                <a:cs typeface="Calibri" pitchFamily="34" charset="-120"/>
              </a:rPr>
              <a:t>2. Classical ML</a:t>
            </a:r>
          </a:p>
          <a:p>
            <a:r>
              <a:rPr lang="en-US" sz="1200" i="1" dirty="0">
                <a:solidFill>
                  <a:srgbClr val="6F7399"/>
                </a:solidFill>
                <a:latin typeface="Calibri" pitchFamily="34" charset="0"/>
                <a:ea typeface="Calibri" pitchFamily="34" charset="-122"/>
                <a:cs typeface="Calibri" pitchFamily="34" charset="-120"/>
              </a:rPr>
              <a:t>Random Forest classifier (300 trees)</a:t>
            </a:r>
          </a:p>
          <a:p>
            <a:r>
              <a:rPr lang="en-US" sz="1200" i="1" dirty="0">
                <a:solidFill>
                  <a:srgbClr val="6F7399"/>
                </a:solidFill>
                <a:latin typeface="Calibri" pitchFamily="34" charset="0"/>
                <a:ea typeface="Calibri" pitchFamily="34" charset="-122"/>
                <a:cs typeface="Calibri" pitchFamily="34" charset="-120"/>
              </a:rPr>
              <a:t>Class-weighted training for imbalanced data</a:t>
            </a:r>
          </a:p>
          <a:p>
            <a:r>
              <a:rPr lang="en-US" sz="1200" i="1" dirty="0">
                <a:solidFill>
                  <a:srgbClr val="6F7399"/>
                </a:solidFill>
                <a:latin typeface="Calibri" pitchFamily="34" charset="0"/>
                <a:ea typeface="Calibri" pitchFamily="34" charset="-122"/>
                <a:cs typeface="Calibri" pitchFamily="34" charset="-120"/>
              </a:rPr>
              <a:t>3. Quantum ML</a:t>
            </a:r>
          </a:p>
          <a:p>
            <a:r>
              <a:rPr lang="en-US" sz="1200" i="1" dirty="0">
                <a:solidFill>
                  <a:srgbClr val="6F7399"/>
                </a:solidFill>
                <a:latin typeface="Calibri" pitchFamily="34" charset="0"/>
                <a:ea typeface="Calibri" pitchFamily="34" charset="-122"/>
                <a:cs typeface="Calibri" pitchFamily="34" charset="-120"/>
              </a:rPr>
              <a:t>Four-qubit Variational Quantum Classifier (VQC)</a:t>
            </a:r>
          </a:p>
          <a:p>
            <a:r>
              <a:rPr lang="en-US" sz="1200" i="1" dirty="0">
                <a:solidFill>
                  <a:srgbClr val="6F7399"/>
                </a:solidFill>
                <a:latin typeface="Calibri" pitchFamily="34" charset="0"/>
                <a:ea typeface="Calibri" pitchFamily="34" charset="-122"/>
                <a:cs typeface="Calibri" pitchFamily="34" charset="-120"/>
              </a:rPr>
              <a:t>Ry angle encoding and 2 variational layers</a:t>
            </a:r>
          </a:p>
          <a:p>
            <a:r>
              <a:rPr lang="en-US" sz="1200" i="1" dirty="0">
                <a:solidFill>
                  <a:srgbClr val="6F7399"/>
                </a:solidFill>
                <a:latin typeface="Calibri" pitchFamily="34" charset="0"/>
                <a:ea typeface="Calibri" pitchFamily="34" charset="-122"/>
                <a:cs typeface="Calibri" pitchFamily="34" charset="-120"/>
              </a:rPr>
              <a:t>Adam optimizer, 25 training epochs</a:t>
            </a:r>
          </a:p>
          <a:p>
            <a:r>
              <a:rPr lang="en-US" sz="1200" i="1" dirty="0">
                <a:solidFill>
                  <a:srgbClr val="6F7399"/>
                </a:solidFill>
                <a:latin typeface="Calibri" pitchFamily="34" charset="0"/>
                <a:ea typeface="Calibri" pitchFamily="34" charset="-122"/>
                <a:cs typeface="Calibri" pitchFamily="34" charset="-120"/>
              </a:rPr>
              <a:t>4. Evaluation</a:t>
            </a:r>
          </a:p>
          <a:p>
            <a:r>
              <a:rPr lang="en-US" sz="1200" i="1" dirty="0">
                <a:solidFill>
                  <a:srgbClr val="6F7399"/>
                </a:solidFill>
                <a:latin typeface="Calibri" pitchFamily="34" charset="0"/>
                <a:ea typeface="Calibri" pitchFamily="34" charset="-122"/>
                <a:cs typeface="Calibri" pitchFamily="34" charset="-120"/>
              </a:rPr>
              <a:t>Validation-based threshold selection</a:t>
            </a:r>
          </a:p>
          <a:p>
            <a:r>
              <a:rPr lang="en-US" sz="1200" i="1" dirty="0">
                <a:solidFill>
                  <a:srgbClr val="6F7399"/>
                </a:solidFill>
                <a:latin typeface="Calibri" pitchFamily="34" charset="0"/>
                <a:ea typeface="Calibri" pitchFamily="34" charset="-122"/>
                <a:cs typeface="Calibri" pitchFamily="34" charset="-120"/>
              </a:rPr>
              <a:t>Accuracy, Precision, Recall &amp; F1-score</a:t>
            </a:r>
          </a:p>
          <a:p>
            <a:r>
              <a:rPr lang="en-US" sz="1200" i="1" dirty="0">
                <a:solidFill>
                  <a:srgbClr val="6F7399"/>
                </a:solidFill>
                <a:latin typeface="Calibri" pitchFamily="34" charset="0"/>
                <a:ea typeface="Calibri" pitchFamily="34" charset="-122"/>
                <a:cs typeface="Calibri" pitchFamily="34" charset="-120"/>
              </a:rPr>
              <a:t>Classical vs. Quantum performance comparison</a:t>
            </a: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6</a:t>
            </a:fld>
            <a:endParaRPr lang="en-US"/>
          </a:p>
        </p:txBody>
      </p:sp>
      <p:sp>
        <p:nvSpPr>
          <p:cNvPr id="10" name="Text 6">
            <a:extLst>
              <a:ext uri="{FF2B5EF4-FFF2-40B4-BE49-F238E27FC236}">
                <a16:creationId xmlns:a16="http://schemas.microsoft.com/office/drawing/2014/main" id="{21119083-0116-9786-8166-8DF11D2C231F}"/>
              </a:ext>
            </a:extLst>
          </p:cNvPr>
          <p:cNvSpPr txBox="1"/>
          <p:nvPr/>
        </p:nvSpPr>
        <p:spPr>
          <a:xfrm>
            <a:off x="4879340" y="1709420"/>
            <a:ext cx="3959860" cy="940816"/>
          </a:xfrm>
          <a:prstGeom prst="rect">
            <a:avLst/>
          </a:prstGeom>
          <a:noFill/>
          <a:ln/>
        </p:spPr>
        <p:txBody>
          <a:bodyPr wrap="square" lIns="0" tIns="0" rIns="0" bIns="0" rtlCol="0" anchor="t"/>
          <a:lstStyle/>
          <a:p>
            <a:r>
              <a:rPr lang="en-US" sz="1200" i="1" dirty="0">
                <a:solidFill>
                  <a:srgbClr val="6F7399"/>
                </a:solidFill>
                <a:latin typeface="Calibri" pitchFamily="34" charset="0"/>
                <a:ea typeface="Calibri" pitchFamily="34" charset="-122"/>
                <a:cs typeface="Calibri" pitchFamily="34" charset="-120"/>
              </a:rPr>
              <a:t> TECHNOLOGY STACK</a:t>
            </a:r>
          </a:p>
          <a:p>
            <a:endParaRPr lang="en-US" sz="1200" i="1" dirty="0">
              <a:solidFill>
                <a:srgbClr val="6F7399"/>
              </a:solidFill>
              <a:latin typeface="Calibri" pitchFamily="34" charset="0"/>
              <a:ea typeface="Calibri" pitchFamily="34" charset="-122"/>
              <a:cs typeface="Calibri" pitchFamily="34" charset="-120"/>
            </a:endParaRPr>
          </a:p>
          <a:p>
            <a:r>
              <a:rPr lang="en-US" sz="1200" i="1" dirty="0">
                <a:solidFill>
                  <a:srgbClr val="6F7399"/>
                </a:solidFill>
                <a:latin typeface="Calibri" pitchFamily="34" charset="0"/>
                <a:ea typeface="Calibri" pitchFamily="34" charset="-122"/>
                <a:cs typeface="Calibri" pitchFamily="34" charset="-120"/>
              </a:rPr>
              <a:t>💻 Programming Python</a:t>
            </a:r>
          </a:p>
          <a:p>
            <a:endParaRPr lang="en-US" sz="1200" i="1" dirty="0">
              <a:solidFill>
                <a:srgbClr val="6F7399"/>
              </a:solidFill>
              <a:latin typeface="Calibri" pitchFamily="34" charset="0"/>
              <a:ea typeface="Calibri" pitchFamily="34" charset="-122"/>
              <a:cs typeface="Calibri" pitchFamily="34" charset="-120"/>
            </a:endParaRPr>
          </a:p>
          <a:p>
            <a:r>
              <a:rPr lang="en-US" sz="1200" i="1" dirty="0">
                <a:solidFill>
                  <a:srgbClr val="6F7399"/>
                </a:solidFill>
                <a:latin typeface="Calibri" pitchFamily="34" charset="0"/>
                <a:ea typeface="Calibri" pitchFamily="34" charset="-122"/>
                <a:cs typeface="Calibri" pitchFamily="34" charset="-120"/>
              </a:rPr>
              <a:t>📊 Data Processing NumPy • Pandas</a:t>
            </a:r>
          </a:p>
          <a:p>
            <a:endParaRPr lang="en-US" sz="1200" i="1" dirty="0">
              <a:solidFill>
                <a:srgbClr val="6F7399"/>
              </a:solidFill>
              <a:latin typeface="Calibri" pitchFamily="34" charset="0"/>
              <a:ea typeface="Calibri" pitchFamily="34" charset="-122"/>
              <a:cs typeface="Calibri" pitchFamily="34" charset="-120"/>
            </a:endParaRPr>
          </a:p>
          <a:p>
            <a:r>
              <a:rPr lang="en-US" sz="1200" i="1" dirty="0">
                <a:solidFill>
                  <a:srgbClr val="6F7399"/>
                </a:solidFill>
                <a:latin typeface="Calibri" pitchFamily="34" charset="0"/>
                <a:ea typeface="Calibri" pitchFamily="34" charset="-122"/>
                <a:cs typeface="Calibri" pitchFamily="34" charset="-120"/>
              </a:rPr>
              <a:t>🤖 Classical Machine Learning Scikit-learn • Random Forest • PCA</a:t>
            </a:r>
          </a:p>
          <a:p>
            <a:endParaRPr lang="en-US" sz="1200" i="1" dirty="0">
              <a:solidFill>
                <a:srgbClr val="6F7399"/>
              </a:solidFill>
              <a:latin typeface="Calibri" pitchFamily="34" charset="0"/>
              <a:ea typeface="Calibri" pitchFamily="34" charset="-122"/>
              <a:cs typeface="Calibri" pitchFamily="34" charset="-120"/>
            </a:endParaRPr>
          </a:p>
          <a:p>
            <a:r>
              <a:rPr lang="en-US" sz="1200" i="1" dirty="0">
                <a:solidFill>
                  <a:srgbClr val="6F7399"/>
                </a:solidFill>
                <a:latin typeface="Calibri" pitchFamily="34" charset="0"/>
                <a:ea typeface="Calibri" pitchFamily="34" charset="-122"/>
                <a:cs typeface="Calibri" pitchFamily="34" charset="-120"/>
              </a:rPr>
              <a:t>⚛️ Quantum Computing PennyLane •</a:t>
            </a:r>
            <a:r>
              <a:rPr lang="en-US" sz="1200" i="1" dirty="0" err="1">
                <a:solidFill>
                  <a:srgbClr val="6F7399"/>
                </a:solidFill>
                <a:latin typeface="Calibri" pitchFamily="34" charset="0"/>
                <a:ea typeface="Calibri" pitchFamily="34" charset="-122"/>
                <a:cs typeface="Calibri" pitchFamily="34" charset="-120"/>
              </a:rPr>
              <a:t>default.qubit</a:t>
            </a:r>
            <a:r>
              <a:rPr lang="en-US" sz="1200" i="1" dirty="0">
                <a:solidFill>
                  <a:srgbClr val="6F7399"/>
                </a:solidFill>
                <a:latin typeface="Calibri" pitchFamily="34" charset="0"/>
                <a:ea typeface="Calibri" pitchFamily="34" charset="-122"/>
                <a:cs typeface="Calibri" pitchFamily="34" charset="-120"/>
              </a:rPr>
              <a:t> simulator</a:t>
            </a:r>
          </a:p>
          <a:p>
            <a:endParaRPr lang="en-US" sz="1200" i="1" dirty="0">
              <a:solidFill>
                <a:srgbClr val="6F7399"/>
              </a:solidFill>
              <a:latin typeface="Calibri" pitchFamily="34" charset="0"/>
              <a:ea typeface="Calibri" pitchFamily="34" charset="-122"/>
              <a:cs typeface="Calibri" pitchFamily="34" charset="-120"/>
            </a:endParaRPr>
          </a:p>
          <a:p>
            <a:r>
              <a:rPr lang="en-US" sz="1200" i="1" dirty="0">
                <a:solidFill>
                  <a:srgbClr val="6F7399"/>
                </a:solidFill>
                <a:latin typeface="Calibri" pitchFamily="34" charset="0"/>
                <a:ea typeface="Calibri" pitchFamily="34" charset="-122"/>
                <a:cs typeface="Calibri" pitchFamily="34" charset="-120"/>
              </a:rPr>
              <a:t>🧠 Quantum Circuit </a:t>
            </a:r>
            <a:r>
              <a:rPr lang="en-US" sz="1200" i="1" dirty="0" err="1">
                <a:solidFill>
                  <a:srgbClr val="6F7399"/>
                </a:solidFill>
                <a:latin typeface="Calibri" pitchFamily="34" charset="0"/>
                <a:ea typeface="Calibri" pitchFamily="34" charset="-122"/>
                <a:cs typeface="Calibri" pitchFamily="34" charset="-120"/>
              </a:rPr>
              <a:t>AngleEmbedding</a:t>
            </a:r>
            <a:r>
              <a:rPr lang="en-US" sz="1200" i="1" dirty="0">
                <a:solidFill>
                  <a:srgbClr val="6F7399"/>
                </a:solidFill>
                <a:latin typeface="Calibri" pitchFamily="34" charset="0"/>
                <a:ea typeface="Calibri" pitchFamily="34" charset="-122"/>
                <a:cs typeface="Calibri" pitchFamily="34" charset="-120"/>
              </a:rPr>
              <a:t> • </a:t>
            </a:r>
            <a:r>
              <a:rPr lang="en-US" sz="1200" i="1" dirty="0" err="1">
                <a:solidFill>
                  <a:srgbClr val="6F7399"/>
                </a:solidFill>
                <a:latin typeface="Calibri" pitchFamily="34" charset="0"/>
                <a:ea typeface="Calibri" pitchFamily="34" charset="-122"/>
                <a:cs typeface="Calibri" pitchFamily="34" charset="-120"/>
              </a:rPr>
              <a:t>StronglyEntanglingLayers</a:t>
            </a:r>
            <a:endParaRPr lang="en-US" sz="1200" i="1" dirty="0">
              <a:solidFill>
                <a:srgbClr val="6F7399"/>
              </a:solidFill>
              <a:latin typeface="Calibri" pitchFamily="34" charset="0"/>
              <a:ea typeface="Calibri" pitchFamily="34" charset="-122"/>
              <a:cs typeface="Calibri" pitchFamily="34" charset="-120"/>
            </a:endParaRPr>
          </a:p>
          <a:p>
            <a:endParaRPr lang="en-US" sz="1200" i="1" dirty="0">
              <a:solidFill>
                <a:srgbClr val="6F7399"/>
              </a:solidFill>
              <a:latin typeface="Calibri" pitchFamily="34" charset="0"/>
              <a:ea typeface="Calibri" pitchFamily="34" charset="-122"/>
              <a:cs typeface="Calibri" pitchFamily="34" charset="-120"/>
            </a:endParaRPr>
          </a:p>
          <a:p>
            <a:r>
              <a:rPr lang="en-US" sz="1200" i="1" dirty="0">
                <a:solidFill>
                  <a:srgbClr val="6F7399"/>
                </a:solidFill>
                <a:latin typeface="Calibri" pitchFamily="34" charset="0"/>
                <a:ea typeface="Calibri" pitchFamily="34" charset="-122"/>
                <a:cs typeface="Calibri" pitchFamily="34" charset="-120"/>
              </a:rPr>
              <a:t>📈 Model Evaluation Accuracy • Precision • Recall • F1-score • Confusion Matrix</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Results &amp; Analysis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Insert area"/>
          <p:cNvSpPr/>
          <p:nvPr/>
        </p:nvSpPr>
        <p:spPr>
          <a:xfrm>
            <a:off x="457200" y="1691640"/>
            <a:ext cx="4937760" cy="2926080"/>
          </a:xfrm>
          <a:prstGeom prst="roundRect">
            <a:avLst>
              <a:gd name="adj" fmla="val 2500"/>
            </a:avLst>
          </a:prstGeom>
          <a:solidFill>
            <a:srgbClr val="EEF0FE"/>
          </a:solidFill>
          <a:ln w="15875">
            <a:solidFill>
              <a:srgbClr val="7C93F0"/>
            </a:solidFill>
            <a:prstDash val="dash"/>
          </a:ln>
        </p:spPr>
      </p:sp>
      <p:sp>
        <p:nvSpPr>
          <p:cNvPr id="7" name="Text 5"/>
          <p:cNvSpPr txBox="1"/>
          <p:nvPr/>
        </p:nvSpPr>
        <p:spPr>
          <a:xfrm>
            <a:off x="640080" y="1874520"/>
            <a:ext cx="4572000" cy="2560320"/>
          </a:xfrm>
          <a:prstGeom prst="rect">
            <a:avLst/>
          </a:prstGeom>
          <a:noFill/>
          <a:ln/>
        </p:spPr>
        <p:txBody>
          <a:bodyPr wrap="square" lIns="0" tIns="0" rIns="0" bIns="0" rtlCol="0" anchor="ctr"/>
          <a:lstStyle/>
          <a:p>
            <a:pPr marL="0" indent="0" algn="ctr">
              <a:buNone/>
            </a:pPr>
            <a:r>
              <a:rPr lang="en-US" sz="1400" b="1" dirty="0">
                <a:solidFill>
                  <a:srgbClr val="5B3BA8"/>
                </a:solidFill>
                <a:latin typeface="Calibri" pitchFamily="34" charset="0"/>
                <a:ea typeface="Calibri" pitchFamily="34" charset="-122"/>
                <a:cs typeface="Calibri" pitchFamily="34" charset="-120"/>
              </a:rPr>
              <a:t>Insert results</a:t>
            </a:r>
            <a:endParaRPr lang="en-US" sz="1400" dirty="0"/>
          </a:p>
          <a:p>
            <a:pPr marL="0" indent="0" algn="ctr">
              <a:buNone/>
            </a:pPr>
            <a:r>
              <a:rPr lang="en-US" sz="1100" i="1" dirty="0">
                <a:solidFill>
                  <a:srgbClr val="6F7399"/>
                </a:solidFill>
                <a:latin typeface="Calibri" pitchFamily="34" charset="0"/>
                <a:ea typeface="Calibri" pitchFamily="34" charset="-122"/>
                <a:cs typeface="Calibri" pitchFamily="34" charset="-120"/>
              </a:rPr>
              <a:t>Histogram, plot or table</a:t>
            </a:r>
            <a:endParaRPr lang="en-US" sz="1400" dirty="0"/>
          </a:p>
        </p:txBody>
      </p:sp>
      <p:sp>
        <p:nvSpPr>
          <p:cNvPr id="8" name="Content card"/>
          <p:cNvSpPr/>
          <p:nvPr/>
        </p:nvSpPr>
        <p:spPr>
          <a:xfrm>
            <a:off x="5577840" y="1691640"/>
            <a:ext cx="3108960" cy="2926080"/>
          </a:xfrm>
          <a:prstGeom prst="roundRect">
            <a:avLst>
              <a:gd name="adj" fmla="val 2500"/>
            </a:avLst>
          </a:prstGeom>
          <a:solidFill>
            <a:srgbClr val="FFFFFF"/>
          </a:solidFill>
          <a:ln w="9525">
            <a:solidFill>
              <a:srgbClr val="B8BDEB"/>
            </a:solidFill>
            <a:prstDash val="solid"/>
          </a:ln>
        </p:spPr>
      </p:sp>
      <p:sp>
        <p:nvSpPr>
          <p:cNvPr id="9" name="Card accent"/>
          <p:cNvSpPr/>
          <p:nvPr/>
        </p:nvSpPr>
        <p:spPr>
          <a:xfrm>
            <a:off x="5806440" y="1691640"/>
            <a:ext cx="822960" cy="54864"/>
          </a:xfrm>
          <a:prstGeom prst="rect">
            <a:avLst/>
          </a:prstGeom>
          <a:solidFill>
            <a:srgbClr val="5B3BA8"/>
          </a:solidFill>
          <a:ln w="12700">
            <a:solidFill>
              <a:srgbClr val="5B3BA8"/>
            </a:solidFill>
            <a:prstDash val="solid"/>
          </a:ln>
        </p:spPr>
      </p:sp>
      <p:sp>
        <p:nvSpPr>
          <p:cNvPr id="10" name="Text 8"/>
          <p:cNvSpPr txBox="1"/>
          <p:nvPr/>
        </p:nvSpPr>
        <p:spPr>
          <a:xfrm>
            <a:off x="5806440" y="1874520"/>
            <a:ext cx="3200400" cy="274320"/>
          </a:xfrm>
          <a:prstGeom prst="rect">
            <a:avLst/>
          </a:prstGeom>
          <a:noFill/>
          <a:ln/>
        </p:spPr>
        <p:txBody>
          <a:bodyPr wrap="square" lIns="0" tIns="0" rIns="0" bIns="0" rtlCol="0" anchor="t"/>
          <a:lstStyle/>
          <a:p>
            <a:pPr marL="0" indent="0">
              <a:buNone/>
            </a:pPr>
            <a:r>
              <a:rPr lang="en-US" sz="1200" i="1" dirty="0">
                <a:solidFill>
                  <a:srgbClr val="6F7399"/>
                </a:solidFill>
                <a:latin typeface="Calibri" pitchFamily="34" charset="0"/>
                <a:ea typeface="Calibri" pitchFamily="34" charset="-122"/>
                <a:cs typeface="Calibri" pitchFamily="34" charset="-120"/>
              </a:rPr>
              <a:t>Add key details</a:t>
            </a: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Impact &amp; Real-World Applications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sp>
      <p:sp>
        <p:nvSpPr>
          <p:cNvPr id="8" name="Text 6"/>
          <p:cNvSpPr txBox="1"/>
          <p:nvPr/>
        </p:nvSpPr>
        <p:spPr>
          <a:xfrm>
            <a:off x="731519" y="1811890"/>
            <a:ext cx="6959461" cy="1101914"/>
          </a:xfrm>
          <a:prstGeom prst="rect">
            <a:avLst/>
          </a:prstGeom>
          <a:noFill/>
          <a:ln/>
        </p:spPr>
        <p:txBody>
          <a:bodyPr wrap="square" lIns="0" tIns="0" rIns="0" bIns="0" rtlCol="0" anchor="t"/>
          <a:lstStyle/>
          <a:p>
            <a:r>
              <a:rPr lang="en-US" sz="1400" i="1" dirty="0">
                <a:solidFill>
                  <a:srgbClr val="6F7399"/>
                </a:solidFill>
                <a:latin typeface="Calibri" pitchFamily="34" charset="0"/>
                <a:ea typeface="Calibri" pitchFamily="34" charset="-122"/>
                <a:cs typeface="Calibri" pitchFamily="34" charset="-120"/>
              </a:rPr>
              <a:t>Impact</a:t>
            </a:r>
          </a:p>
          <a:p>
            <a:pPr marL="285750" indent="-285750">
              <a:buFont typeface="Arial" panose="020B0604020202020204" pitchFamily="34" charset="0"/>
              <a:buChar char="•"/>
            </a:pPr>
            <a:r>
              <a:rPr lang="en-US" sz="1400" i="1" dirty="0">
                <a:solidFill>
                  <a:srgbClr val="6F7399"/>
                </a:solidFill>
                <a:latin typeface="Calibri" pitchFamily="34" charset="0"/>
                <a:ea typeface="Calibri" pitchFamily="34" charset="-122"/>
                <a:cs typeface="Calibri" pitchFamily="34" charset="-120"/>
              </a:rPr>
              <a:t>Reduce unexpected downtime by identifying machines at risk of failure.</a:t>
            </a:r>
          </a:p>
          <a:p>
            <a:pPr marL="285750" indent="-285750">
              <a:buFont typeface="Arial" panose="020B0604020202020204" pitchFamily="34" charset="0"/>
              <a:buChar char="•"/>
            </a:pPr>
            <a:r>
              <a:rPr lang="en-US" sz="1400" i="1" dirty="0">
                <a:solidFill>
                  <a:srgbClr val="6F7399"/>
                </a:solidFill>
                <a:latin typeface="Calibri" pitchFamily="34" charset="0"/>
                <a:ea typeface="Calibri" pitchFamily="34" charset="-122"/>
                <a:cs typeface="Calibri" pitchFamily="34" charset="-120"/>
              </a:rPr>
              <a:t>Lower maintenance costs through better-timed inspections and repairs.</a:t>
            </a:r>
          </a:p>
          <a:p>
            <a:pPr marL="285750" indent="-285750">
              <a:buFont typeface="Arial" panose="020B0604020202020204" pitchFamily="34" charset="0"/>
              <a:buChar char="•"/>
            </a:pPr>
            <a:r>
              <a:rPr lang="en-US" sz="1400" i="1" dirty="0">
                <a:solidFill>
                  <a:srgbClr val="6F7399"/>
                </a:solidFill>
                <a:latin typeface="Calibri" pitchFamily="34" charset="0"/>
                <a:ea typeface="Calibri" pitchFamily="34" charset="-122"/>
                <a:cs typeface="Calibri" pitchFamily="34" charset="-120"/>
              </a:rPr>
              <a:t>Improve operational safety by flagging potential equipment problems earlier.</a:t>
            </a:r>
          </a:p>
          <a:p>
            <a:pPr marL="285750" indent="-285750">
              <a:buFont typeface="Arial" panose="020B0604020202020204" pitchFamily="34" charset="0"/>
              <a:buChar char="•"/>
            </a:pPr>
            <a:r>
              <a:rPr lang="en-US" sz="1400" i="1" dirty="0">
                <a:solidFill>
                  <a:srgbClr val="6F7399"/>
                </a:solidFill>
                <a:latin typeface="Calibri" pitchFamily="34" charset="0"/>
                <a:ea typeface="Calibri" pitchFamily="34" charset="-122"/>
                <a:cs typeface="Calibri" pitchFamily="34" charset="-120"/>
              </a:rPr>
              <a:t>Increase productivity by helping teams plan maintenance before disruptions occur.</a:t>
            </a:r>
          </a:p>
          <a:p>
            <a:pPr marL="285750" indent="-285750">
              <a:buFont typeface="Arial" panose="020B0604020202020204" pitchFamily="34" charset="0"/>
              <a:buChar char="•"/>
            </a:pPr>
            <a:r>
              <a:rPr lang="en-US" sz="1400" i="1" dirty="0">
                <a:solidFill>
                  <a:srgbClr val="6F7399"/>
                </a:solidFill>
                <a:latin typeface="Calibri" pitchFamily="34" charset="0"/>
                <a:ea typeface="Calibri" pitchFamily="34" charset="-122"/>
                <a:cs typeface="Calibri" pitchFamily="34" charset="-120"/>
              </a:rPr>
              <a:t>Support smarter decisions with sensor-based, data-driven maintenance alerts.</a:t>
            </a:r>
          </a:p>
          <a:p>
            <a:pPr marL="285750" indent="-285750">
              <a:buFont typeface="Arial" panose="020B0604020202020204" pitchFamily="34" charset="0"/>
              <a:buChar char="•"/>
            </a:pPr>
            <a:endParaRPr lang="en-US" sz="1400" i="1" dirty="0">
              <a:solidFill>
                <a:srgbClr val="6F7399"/>
              </a:solidFill>
              <a:latin typeface="Calibri" pitchFamily="34" charset="0"/>
              <a:ea typeface="Calibri" pitchFamily="34" charset="-122"/>
              <a:cs typeface="Calibri" pitchFamily="34" charset="-120"/>
            </a:endParaRPr>
          </a:p>
          <a:p>
            <a:r>
              <a:rPr lang="en-US" sz="1400" i="1" dirty="0">
                <a:solidFill>
                  <a:srgbClr val="6F7399"/>
                </a:solidFill>
                <a:latin typeface="Calibri" pitchFamily="34" charset="0"/>
                <a:ea typeface="Calibri" pitchFamily="34" charset="-122"/>
                <a:cs typeface="Calibri" pitchFamily="34" charset="-120"/>
              </a:rPr>
              <a:t>Real-World Applications</a:t>
            </a:r>
          </a:p>
          <a:p>
            <a:pPr marL="285750" indent="-285750">
              <a:buFont typeface="Arial" panose="020B0604020202020204" pitchFamily="34" charset="0"/>
              <a:buChar char="•"/>
            </a:pPr>
            <a:r>
              <a:rPr lang="en-US" sz="1400" i="1" dirty="0">
                <a:solidFill>
                  <a:srgbClr val="6F7399"/>
                </a:solidFill>
                <a:latin typeface="Calibri" pitchFamily="34" charset="0"/>
                <a:ea typeface="Calibri" pitchFamily="34" charset="-122"/>
                <a:cs typeface="Calibri" pitchFamily="34" charset="-120"/>
              </a:rPr>
              <a:t>Manufacturing plants: Monitor motors, pumps, conveyors, and production equipment.</a:t>
            </a:r>
          </a:p>
          <a:p>
            <a:pPr marL="285750" indent="-285750">
              <a:buFont typeface="Arial" panose="020B0604020202020204" pitchFamily="34" charset="0"/>
              <a:buChar char="•"/>
            </a:pPr>
            <a:r>
              <a:rPr lang="en-US" sz="1400" i="1" dirty="0">
                <a:solidFill>
                  <a:srgbClr val="6F7399"/>
                </a:solidFill>
                <a:latin typeface="Calibri" pitchFamily="34" charset="0"/>
                <a:ea typeface="Calibri" pitchFamily="34" charset="-122"/>
                <a:cs typeface="Calibri" pitchFamily="34" charset="-120"/>
              </a:rPr>
              <a:t>Automotive industries: Predict wear or faults in assembly-line machinery.</a:t>
            </a:r>
          </a:p>
          <a:p>
            <a:pPr marL="285750" indent="-285750">
              <a:buFont typeface="Arial" panose="020B0604020202020204" pitchFamily="34" charset="0"/>
              <a:buChar char="•"/>
            </a:pPr>
            <a:r>
              <a:rPr lang="en-US" sz="1400" i="1" dirty="0">
                <a:solidFill>
                  <a:srgbClr val="6F7399"/>
                </a:solidFill>
                <a:latin typeface="Calibri" pitchFamily="34" charset="0"/>
                <a:ea typeface="Calibri" pitchFamily="34" charset="-122"/>
                <a:cs typeface="Calibri" pitchFamily="34" charset="-120"/>
              </a:rPr>
              <a:t>Energy and utilities: Help monitor turbines, generators, and industrial pumps.</a:t>
            </a:r>
          </a:p>
          <a:p>
            <a:pPr marL="285750" indent="-285750">
              <a:buFont typeface="Arial" panose="020B0604020202020204" pitchFamily="34" charset="0"/>
              <a:buChar char="•"/>
            </a:pPr>
            <a:r>
              <a:rPr lang="en-US" sz="1400" i="1" dirty="0">
                <a:solidFill>
                  <a:srgbClr val="6F7399"/>
                </a:solidFill>
                <a:latin typeface="Calibri" pitchFamily="34" charset="0"/>
                <a:ea typeface="Calibri" pitchFamily="34" charset="-122"/>
                <a:cs typeface="Calibri" pitchFamily="34" charset="-120"/>
              </a:rPr>
              <a:t>Mining and heavy industries: Prioritize inspections of critical equipment.</a:t>
            </a:r>
          </a:p>
          <a:p>
            <a:pPr marL="285750" indent="-285750">
              <a:buFont typeface="Arial" panose="020B0604020202020204" pitchFamily="34" charset="0"/>
              <a:buChar char="•"/>
            </a:pPr>
            <a:r>
              <a:rPr lang="en-US" sz="1400" i="1" dirty="0">
                <a:solidFill>
                  <a:srgbClr val="6F7399"/>
                </a:solidFill>
                <a:latin typeface="Calibri" pitchFamily="34" charset="0"/>
                <a:ea typeface="Calibri" pitchFamily="34" charset="-122"/>
                <a:cs typeface="Calibri" pitchFamily="34" charset="-120"/>
              </a:rPr>
              <a:t>Smart factories: Integrate predictive alerts into industrial monitoring systems.</a:t>
            </a:r>
            <a:endParaRPr lang="en-US" sz="14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Challenges &amp; Future Scope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dirty="0"/>
          </a:p>
        </p:txBody>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sp>
      <p:sp>
        <p:nvSpPr>
          <p:cNvPr id="8" name="Text 6"/>
          <p:cNvSpPr txBox="1"/>
          <p:nvPr/>
        </p:nvSpPr>
        <p:spPr>
          <a:xfrm>
            <a:off x="591820" y="1823720"/>
            <a:ext cx="3954780" cy="589280"/>
          </a:xfrm>
          <a:prstGeom prst="rect">
            <a:avLst/>
          </a:prstGeom>
          <a:noFill/>
          <a:ln/>
        </p:spPr>
        <p:txBody>
          <a:bodyPr wrap="square" lIns="0" tIns="0" rIns="0" bIns="0" rtlCol="0" anchor="t"/>
          <a:lstStyle/>
          <a:p>
            <a:r>
              <a:rPr lang="en-US" sz="1200" i="1" dirty="0">
                <a:solidFill>
                  <a:srgbClr val="6F7399"/>
                </a:solidFill>
                <a:latin typeface="Calibri" pitchFamily="34" charset="0"/>
                <a:ea typeface="Calibri" pitchFamily="34" charset="-122"/>
                <a:cs typeface="Calibri" pitchFamily="34" charset="-120"/>
              </a:rPr>
              <a:t>Challenges</a:t>
            </a:r>
          </a:p>
          <a:p>
            <a:r>
              <a:rPr lang="en-US" sz="1200" i="1" dirty="0">
                <a:solidFill>
                  <a:srgbClr val="6F7399"/>
                </a:solidFill>
                <a:latin typeface="Calibri" pitchFamily="34" charset="0"/>
                <a:ea typeface="Calibri" pitchFamily="34" charset="-122"/>
                <a:cs typeface="Calibri" pitchFamily="34" charset="-120"/>
              </a:rPr>
              <a:t>1. Class Imbalance</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Machine failure cases are much fewer than normal cases.</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Requires careful handling to improve failure detection.</a:t>
            </a:r>
          </a:p>
          <a:p>
            <a:r>
              <a:rPr lang="en-US" sz="1200" i="1" dirty="0">
                <a:solidFill>
                  <a:srgbClr val="6F7399"/>
                </a:solidFill>
                <a:latin typeface="Calibri" pitchFamily="34" charset="0"/>
                <a:ea typeface="Calibri" pitchFamily="34" charset="-122"/>
                <a:cs typeface="Calibri" pitchFamily="34" charset="-120"/>
              </a:rPr>
              <a:t>2. Quantum Simulation Cost</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Quantum circuit simulation can be computationally expensive.</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Training time increases with circuit complexity.</a:t>
            </a:r>
          </a:p>
          <a:p>
            <a:r>
              <a:rPr lang="en-US" sz="1200" i="1" dirty="0">
                <a:solidFill>
                  <a:srgbClr val="6F7399"/>
                </a:solidFill>
                <a:latin typeface="Calibri" pitchFamily="34" charset="0"/>
                <a:ea typeface="Calibri" pitchFamily="34" charset="-122"/>
                <a:cs typeface="Calibri" pitchFamily="34" charset="-120"/>
              </a:rPr>
              <a:t>3. Limited Qubit Count</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The current VQC uses only four qubits.</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PCA reduces five sensor features to four components.</a:t>
            </a:r>
          </a:p>
          <a:p>
            <a:r>
              <a:rPr lang="en-US" sz="1200" i="1" dirty="0">
                <a:solidFill>
                  <a:srgbClr val="6F7399"/>
                </a:solidFill>
                <a:latin typeface="Calibri" pitchFamily="34" charset="0"/>
                <a:ea typeface="Calibri" pitchFamily="34" charset="-122"/>
                <a:cs typeface="Calibri" pitchFamily="34" charset="-120"/>
              </a:rPr>
              <a:t>4. Model Performance</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Quantum model performance depends on circuit design and parameter optimization.</a:t>
            </a:r>
          </a:p>
          <a:p>
            <a:pPr marL="171450" indent="-171450">
              <a:buFont typeface="Arial" panose="020B0604020202020204" pitchFamily="34" charset="0"/>
              <a:buChar char="•"/>
            </a:pPr>
            <a:r>
              <a:rPr lang="en-US" sz="1200" i="1" dirty="0">
                <a:solidFill>
                  <a:srgbClr val="6F7399"/>
                </a:solidFill>
                <a:latin typeface="Calibri" pitchFamily="34" charset="0"/>
                <a:ea typeface="Calibri" pitchFamily="34" charset="-122"/>
                <a:cs typeface="Calibri" pitchFamily="34" charset="-120"/>
              </a:rPr>
              <a:t>Quantum advantage has not yet been established.</a:t>
            </a: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9</a:t>
            </a:fld>
            <a:endParaRPr lang="en-US"/>
          </a:p>
        </p:txBody>
      </p:sp>
      <p:sp>
        <p:nvSpPr>
          <p:cNvPr id="10" name="Text 6">
            <a:extLst>
              <a:ext uri="{FF2B5EF4-FFF2-40B4-BE49-F238E27FC236}">
                <a16:creationId xmlns:a16="http://schemas.microsoft.com/office/drawing/2014/main" id="{2D3DF575-B910-95BA-C5A0-5D0F6CD27417}"/>
              </a:ext>
            </a:extLst>
          </p:cNvPr>
          <p:cNvSpPr txBox="1"/>
          <p:nvPr/>
        </p:nvSpPr>
        <p:spPr>
          <a:xfrm>
            <a:off x="4732020" y="1849120"/>
            <a:ext cx="3878580" cy="318516"/>
          </a:xfrm>
          <a:prstGeom prst="rect">
            <a:avLst/>
          </a:prstGeom>
          <a:noFill/>
          <a:ln/>
        </p:spPr>
        <p:txBody>
          <a:bodyPr wrap="square" lIns="0" tIns="0" rIns="0" bIns="0" rtlCol="0" anchor="t"/>
          <a:lstStyle/>
          <a:p>
            <a:r>
              <a:rPr lang="en-US" sz="1200" i="1" dirty="0">
                <a:solidFill>
                  <a:srgbClr val="6F7399"/>
                </a:solidFill>
                <a:latin typeface="Calibri" pitchFamily="34" charset="0"/>
                <a:ea typeface="Calibri" pitchFamily="34" charset="-122"/>
                <a:cs typeface="Calibri" pitchFamily="34" charset="-120"/>
              </a:rPr>
              <a:t> Future Scope</a:t>
            </a:r>
          </a:p>
          <a:p>
            <a:r>
              <a:rPr lang="en-US" sz="1200" i="1" dirty="0">
                <a:solidFill>
                  <a:srgbClr val="6F7399"/>
                </a:solidFill>
                <a:latin typeface="Calibri" pitchFamily="34" charset="0"/>
                <a:ea typeface="Calibri" pitchFamily="34" charset="-122"/>
                <a:cs typeface="Calibri" pitchFamily="34" charset="-120"/>
              </a:rPr>
              <a:t>1. Real-Time Monitoring</a:t>
            </a:r>
          </a:p>
          <a:p>
            <a:r>
              <a:rPr lang="en-US" sz="1200" i="1" dirty="0">
                <a:solidFill>
                  <a:srgbClr val="6F7399"/>
                </a:solidFill>
                <a:latin typeface="Calibri" pitchFamily="34" charset="0"/>
                <a:ea typeface="Calibri" pitchFamily="34" charset="-122"/>
                <a:cs typeface="Calibri" pitchFamily="34" charset="-120"/>
              </a:rPr>
              <a:t>Integrate live sensor data for continuous machine monitoring.</a:t>
            </a:r>
          </a:p>
          <a:p>
            <a:r>
              <a:rPr lang="en-US" sz="1200" i="1" dirty="0">
                <a:solidFill>
                  <a:srgbClr val="6F7399"/>
                </a:solidFill>
                <a:latin typeface="Calibri" pitchFamily="34" charset="0"/>
                <a:ea typeface="Calibri" pitchFamily="34" charset="-122"/>
                <a:cs typeface="Calibri" pitchFamily="34" charset="-120"/>
              </a:rPr>
              <a:t>2. Advanced Quantum Models</a:t>
            </a:r>
          </a:p>
          <a:p>
            <a:r>
              <a:rPr lang="en-US" sz="1200" i="1" dirty="0">
                <a:solidFill>
                  <a:srgbClr val="6F7399"/>
                </a:solidFill>
                <a:latin typeface="Calibri" pitchFamily="34" charset="0"/>
                <a:ea typeface="Calibri" pitchFamily="34" charset="-122"/>
                <a:cs typeface="Calibri" pitchFamily="34" charset="-120"/>
              </a:rPr>
              <a:t>Experiment with different quantum circuits, encoding strategies, and optimizers.</a:t>
            </a:r>
          </a:p>
          <a:p>
            <a:r>
              <a:rPr lang="en-US" sz="1200" i="1" dirty="0">
                <a:solidFill>
                  <a:srgbClr val="6F7399"/>
                </a:solidFill>
                <a:latin typeface="Calibri" pitchFamily="34" charset="0"/>
                <a:ea typeface="Calibri" pitchFamily="34" charset="-122"/>
                <a:cs typeface="Calibri" pitchFamily="34" charset="-120"/>
              </a:rPr>
              <a:t>3. Real Quantum Hardware</a:t>
            </a:r>
          </a:p>
          <a:p>
            <a:r>
              <a:rPr lang="en-US" sz="1200" i="1" dirty="0">
                <a:solidFill>
                  <a:srgbClr val="6F7399"/>
                </a:solidFill>
                <a:latin typeface="Calibri" pitchFamily="34" charset="0"/>
                <a:ea typeface="Calibri" pitchFamily="34" charset="-122"/>
                <a:cs typeface="Calibri" pitchFamily="34" charset="-120"/>
              </a:rPr>
              <a:t>Test the VQC on available quantum processors and compare results with simulation.</a:t>
            </a:r>
          </a:p>
          <a:p>
            <a:r>
              <a:rPr lang="en-US" sz="1200" i="1" dirty="0">
                <a:solidFill>
                  <a:srgbClr val="6F7399"/>
                </a:solidFill>
                <a:latin typeface="Calibri" pitchFamily="34" charset="0"/>
                <a:ea typeface="Calibri" pitchFamily="34" charset="-122"/>
                <a:cs typeface="Calibri" pitchFamily="34" charset="-120"/>
              </a:rPr>
              <a:t>4. Improved Predictive Accuracy</a:t>
            </a:r>
          </a:p>
          <a:p>
            <a:r>
              <a:rPr lang="en-US" sz="1200" i="1" dirty="0">
                <a:solidFill>
                  <a:srgbClr val="6F7399"/>
                </a:solidFill>
                <a:latin typeface="Calibri" pitchFamily="34" charset="0"/>
                <a:ea typeface="Calibri" pitchFamily="34" charset="-122"/>
                <a:cs typeface="Calibri" pitchFamily="34" charset="-120"/>
              </a:rPr>
              <a:t>Explore additional features, hyperparameter tuning, and larger datasets.</a:t>
            </a:r>
          </a:p>
          <a:p>
            <a:r>
              <a:rPr lang="en-US" sz="1200" i="1" dirty="0">
                <a:solidFill>
                  <a:srgbClr val="6F7399"/>
                </a:solidFill>
                <a:latin typeface="Calibri" pitchFamily="34" charset="0"/>
                <a:ea typeface="Calibri" pitchFamily="34" charset="-122"/>
                <a:cs typeface="Calibri" pitchFamily="34" charset="-120"/>
              </a:rPr>
              <a:t>5. Industrial Deployment</a:t>
            </a:r>
          </a:p>
          <a:p>
            <a:r>
              <a:rPr lang="en-US" sz="1200" i="1" dirty="0">
                <a:solidFill>
                  <a:srgbClr val="6F7399"/>
                </a:solidFill>
                <a:latin typeface="Calibri" pitchFamily="34" charset="0"/>
                <a:ea typeface="Calibri" pitchFamily="34" charset="-122"/>
                <a:cs typeface="Calibri" pitchFamily="34" charset="-120"/>
              </a:rPr>
              <a:t>Develop a dashboard for failure alerts and predictive maintenance recommendations.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914400"/>
            <a:ext cx="274320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CLOSING</a:t>
            </a:r>
            <a:endParaRPr lang="en-US" sz="1000" dirty="0"/>
          </a:p>
        </p:txBody>
      </p:sp>
      <p:sp>
        <p:nvSpPr>
          <p:cNvPr id="3" name="Text 1"/>
          <p:cNvSpPr txBox="1"/>
          <p:nvPr/>
        </p:nvSpPr>
        <p:spPr>
          <a:xfrm>
            <a:off x="457200" y="1188720"/>
            <a:ext cx="4754880" cy="1554480"/>
          </a:xfrm>
          <a:prstGeom prst="rect">
            <a:avLst/>
          </a:prstGeom>
          <a:noFill/>
          <a:ln/>
        </p:spPr>
        <p:txBody>
          <a:bodyPr wrap="square" lIns="0" tIns="0" rIns="0" bIns="0" rtlCol="0" anchor="t"/>
          <a:lstStyle/>
          <a:p>
            <a:pPr marL="0" indent="0">
              <a:buNone/>
            </a:pPr>
            <a:r>
              <a:rPr lang="en-US" sz="4200" b="1" dirty="0">
                <a:solidFill>
                  <a:srgbClr val="2E1B5B"/>
                </a:solidFill>
                <a:latin typeface="Georgia" pitchFamily="34" charset="0"/>
                <a:ea typeface="Georgia" pitchFamily="34" charset="-122"/>
                <a:cs typeface="Georgia" pitchFamily="34" charset="-120"/>
              </a:rPr>
              <a:t>Thank You</a:t>
            </a:r>
            <a:endParaRPr lang="en-US" sz="4200" dirty="0"/>
          </a:p>
          <a:p>
            <a:pPr marL="0" indent="0">
              <a:buNone/>
            </a:pPr>
            <a:r>
              <a:rPr lang="en-US" sz="4200" b="1" dirty="0">
                <a:solidFill>
                  <a:srgbClr val="E8639F"/>
                </a:solidFill>
                <a:latin typeface="Georgia" pitchFamily="34" charset="0"/>
                <a:ea typeface="Georgia" pitchFamily="34" charset="-122"/>
                <a:cs typeface="Georgia" pitchFamily="34" charset="-120"/>
              </a:rPr>
              <a:t>Questions?</a:t>
            </a:r>
            <a:endParaRPr lang="en-US" sz="4200" dirty="0"/>
          </a:p>
        </p:txBody>
      </p:sp>
      <p:sp>
        <p:nvSpPr>
          <p:cNvPr id="4" name="Text 2"/>
          <p:cNvSpPr txBox="1"/>
          <p:nvPr/>
        </p:nvSpPr>
        <p:spPr>
          <a:xfrm>
            <a:off x="457200" y="2788920"/>
            <a:ext cx="4754880" cy="274320"/>
          </a:xfrm>
          <a:prstGeom prst="rect">
            <a:avLst/>
          </a:prstGeom>
          <a:noFill/>
          <a:ln/>
        </p:spPr>
        <p:txBody>
          <a:bodyPr wrap="square" lIns="0" tIns="0" rIns="0" bIns="0" rtlCol="0" anchor="t"/>
          <a:lstStyle/>
          <a:p>
            <a:pPr marL="0" indent="0">
              <a:buNone/>
            </a:pPr>
            <a:r>
              <a:rPr lang="en-US" sz="1300" i="1" dirty="0">
                <a:solidFill>
                  <a:srgbClr val="6F7399"/>
                </a:solidFill>
                <a:latin typeface="Calibri" pitchFamily="34" charset="0"/>
                <a:ea typeface="Calibri" pitchFamily="34" charset="-122"/>
                <a:cs typeface="Calibri" pitchFamily="34" charset="-120"/>
              </a:rPr>
              <a:t>Inspiring Minds. Shaping Tomorrow.</a:t>
            </a:r>
            <a:endParaRPr lang="en-US" sz="1300" dirty="0"/>
          </a:p>
        </p:txBody>
      </p:sp>
      <p:sp>
        <p:nvSpPr>
          <p:cNvPr id="5" name="Field: GITHUB REPOSITORY"/>
          <p:cNvSpPr/>
          <p:nvPr/>
        </p:nvSpPr>
        <p:spPr>
          <a:xfrm>
            <a:off x="457200" y="3291840"/>
            <a:ext cx="2286000" cy="662940"/>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GITHUB REPOSITORY</a:t>
            </a:r>
            <a:endParaRPr lang="en-US" sz="900" dirty="0"/>
          </a:p>
          <a:p>
            <a:r>
              <a:rPr lang="en-US" sz="1200" i="1" dirty="0">
                <a:solidFill>
                  <a:srgbClr val="6F7399"/>
                </a:solidFill>
                <a:latin typeface="Calibri" pitchFamily="34" charset="0"/>
                <a:ea typeface="Calibri" pitchFamily="34" charset="-122"/>
                <a:cs typeface="Calibri" pitchFamily="34" charset="-120"/>
              </a:rPr>
              <a:t> https://github.com/vtu-qiskit-fall-fest-2026/vtu-hc-qubexis.git</a:t>
            </a:r>
            <a:endParaRPr lang="en-US" sz="900" dirty="0"/>
          </a:p>
        </p:txBody>
      </p:sp>
      <p:sp>
        <p:nvSpPr>
          <p:cNvPr id="6" name="Field: DEMO VIDEO LINK"/>
          <p:cNvSpPr/>
          <p:nvPr/>
        </p:nvSpPr>
        <p:spPr>
          <a:xfrm>
            <a:off x="2834640" y="329184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DEMO VIDEO LINK</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Paste link</a:t>
            </a:r>
            <a:endParaRPr lang="en-US" sz="900" dirty="0"/>
          </a:p>
        </p:txBody>
      </p:sp>
      <p:pic>
        <p:nvPicPr>
          <p:cNvPr id="7" name="Bloch sphere ring" descr="sphere.png"/>
          <p:cNvPicPr>
            <a:picLocks noChangeAspect="1"/>
          </p:cNvPicPr>
          <p:nvPr/>
        </p:nvPicPr>
        <p:blipFill>
          <a:blip r:embed="rId3"/>
          <a:stretch>
            <a:fillRect/>
          </a:stretch>
        </p:blipFill>
        <p:spPr>
          <a:xfrm>
            <a:off x="5486400" y="1097280"/>
            <a:ext cx="3200400" cy="3200400"/>
          </a:xfrm>
          <a:prstGeom prst="rect">
            <a:avLst/>
          </a:prstGeom>
        </p:spPr>
      </p:pic>
      <p:pic>
        <p:nvPicPr>
          <p:cNvPr id="8" name="Image 1" descr="bird1.png"/>
          <p:cNvPicPr>
            <a:picLocks noChangeAspect="1"/>
          </p:cNvPicPr>
          <p:nvPr/>
        </p:nvPicPr>
        <p:blipFill>
          <a:blip r:embed="rId4"/>
          <a:stretch>
            <a:fillRect/>
          </a:stretch>
        </p:blipFill>
        <p:spPr>
          <a:xfrm>
            <a:off x="5029200" y="914400"/>
            <a:ext cx="822960" cy="493776"/>
          </a:xfrm>
          <a:prstGeom prst="rect">
            <a:avLst/>
          </a:prstGeom>
        </p:spPr>
      </p:pic>
      <p:pic>
        <p:nvPicPr>
          <p:cNvPr id="9" name="Image 2" descr="bird2.png"/>
          <p:cNvPicPr>
            <a:picLocks noChangeAspect="1"/>
          </p:cNvPicPr>
          <p:nvPr/>
        </p:nvPicPr>
        <p:blipFill>
          <a:blip r:embed="rId5"/>
          <a:stretch>
            <a:fillRect/>
          </a:stretch>
        </p:blipFill>
        <p:spPr>
          <a:xfrm>
            <a:off x="4754880" y="3840480"/>
            <a:ext cx="548640" cy="329184"/>
          </a:xfrm>
          <a:prstGeom prst="rect">
            <a:avLst/>
          </a:prstGeom>
        </p:spPr>
      </p:pic>
      <p:pic>
        <p:nvPicPr>
          <p:cNvPr id="10" name="Image 3" descr="bird3.png"/>
          <p:cNvPicPr>
            <a:picLocks noChangeAspect="1"/>
          </p:cNvPicPr>
          <p:nvPr/>
        </p:nvPicPr>
        <p:blipFill>
          <a:blip r:embed="rId6"/>
          <a:stretch>
            <a:fillRect/>
          </a:stretch>
        </p:blipFill>
        <p:spPr>
          <a:xfrm>
            <a:off x="8229600" y="4023360"/>
            <a:ext cx="457200" cy="274320"/>
          </a:xfrm>
          <a:prstGeom prst="rect">
            <a:avLst/>
          </a:prstGeom>
        </p:spPr>
      </p:pic>
    </p:spTree>
  </p:cSld>
  <p:clrMapOvr>
    <a:masterClrMapping/>
  </p:clrMapOvr>
</p:sld>
</file>

<file path=ppt/theme/theme1.xml><?xml version="1.0" encoding="utf-8"?>
<a:theme xmlns:a="http://schemas.openxmlformats.org/drawingml/2006/main" name="Qiskit Fall Fest">
  <a:themeElements>
    <a:clrScheme name="Qiskit Fall Fest">
      <a:dk1>
        <a:srgbClr val="2E1B5B"/>
      </a:dk1>
      <a:lt1>
        <a:srgbClr val="FFFFFF"/>
      </a:lt1>
      <a:dk2>
        <a:srgbClr val="4B2BA8"/>
      </a:dk2>
      <a:lt2>
        <a:srgbClr val="DDE2FC"/>
      </a:lt2>
      <a:accent1>
        <a:srgbClr val="E0558F"/>
      </a:accent1>
      <a:accent2>
        <a:srgbClr val="6B3FD4"/>
      </a:accent2>
      <a:accent3>
        <a:srgbClr val="F5C33B"/>
      </a:accent3>
      <a:accent4>
        <a:srgbClr val="3B82F6"/>
      </a:accent4>
      <a:accent5>
        <a:srgbClr val="7B58B8"/>
      </a:accent5>
      <a:accent6>
        <a:srgbClr val="2BB5A0"/>
      </a:accent6>
      <a:hlink>
        <a:srgbClr val="6B3FD4"/>
      </a:hlink>
      <a:folHlink>
        <a:srgbClr val="4B2BA8"/>
      </a:folHlink>
    </a:clrScheme>
    <a:fontScheme name="Qiskit Fall F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990</Words>
  <Application>Microsoft Office PowerPoint</Application>
  <PresentationFormat>On-screen Show (16:9)</PresentationFormat>
  <Paragraphs>155</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Georgia</vt:lpstr>
      <vt:lpstr>Nirmala UI</vt:lpstr>
      <vt:lpstr>Qiskit Fall Fest</vt:lpstr>
      <vt:lpstr>PowerPoint Presentation</vt:lpstr>
      <vt:lpstr>Problem Statement</vt:lpstr>
      <vt:lpstr>Objectives &amp; Novelty</vt:lpstr>
      <vt:lpstr>Solution &amp; Quantum Advantage</vt:lpstr>
      <vt:lpstr>Algorithm &amp; Circuit Design</vt:lpstr>
      <vt:lpstr>Implementation &amp; Tech Stack</vt:lpstr>
      <vt:lpstr>Results &amp; Analysis</vt:lpstr>
      <vt:lpstr>Impact &amp; Real-World Applications</vt:lpstr>
      <vt:lpstr>Challenges &amp;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Sahana J C</dc:creator>
  <cp:lastModifiedBy>Sahana J C</cp:lastModifiedBy>
  <cp:revision>4</cp:revision>
  <dcterms:modified xsi:type="dcterms:W3CDTF">2026-10-23T09:19:00Z</dcterms:modified>
</cp:coreProperties>
</file>